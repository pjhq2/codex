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20ccfb87b94db6" /><Relationship Type="http://schemas.openxmlformats.org/officeDocument/2006/relationships/extended-properties" Target="/docProps/app.xml" Id="R0eb2068d21bd4674" /><Relationship Type="http://schemas.openxmlformats.org/officeDocument/2006/relationships/officeDocument" Target="/ppt/presentation.xml" Id="Rc86cbe93e79d41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24a7a3b80e4262"/>
  </p:sldMasterIdLst>
  <p:notesMasterIdLst>
    <p:notesMasterId xmlns:r="http://schemas.openxmlformats.org/officeDocument/2006/relationships" r:id="R3fac153c3dcc4f49"/>
  </p:notesMasterIdLst>
  <p:sldIdLst>
    <p:sldId xmlns:r="http://schemas.openxmlformats.org/officeDocument/2006/relationships" id="256" r:id="Re5e6313cee0a4183"/>
    <p:sldId xmlns:r="http://schemas.openxmlformats.org/officeDocument/2006/relationships" id="257" r:id="R1d0fc265c1324d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ff3e622c754b33" /><Relationship Type="http://schemas.openxmlformats.org/officeDocument/2006/relationships/slideMaster" Target="/ppt/slideMasters/slideMaster1.xml" Id="R1d24a7a3b80e4262" /><Relationship Type="http://schemas.openxmlformats.org/officeDocument/2006/relationships/notesMaster" Target="/ppt/notesMasters/notesMaster1.xml" Id="R3fac153c3dcc4f49" /><Relationship Type="http://schemas.openxmlformats.org/officeDocument/2006/relationships/presProps" Target="/ppt/presProps.xml" Id="Rdfe99d34bd13443c" /><Relationship Type="http://schemas.openxmlformats.org/officeDocument/2006/relationships/tableStyles" Target="/ppt/tableStyles.xml" Id="Rec66765862aa4ead" /><Relationship Type="http://schemas.openxmlformats.org/officeDocument/2006/relationships/slide" Target="/ppt/slides/slide1.xml" Id="Re5e6313cee0a4183" /><Relationship Type="http://schemas.openxmlformats.org/officeDocument/2006/relationships/slide" Target="/ppt/slides/slide2.xml" Id="R1d0fc265c1324d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a1c89c2fa046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da62c157ee42c7" /><Relationship Type="http://schemas.openxmlformats.org/officeDocument/2006/relationships/notesMaster" Target="/ppt/notesMasters/notesMaster1.xml" Id="R246b0ab487a146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72406a53fb4948" /><Relationship Type="http://schemas.openxmlformats.org/officeDocument/2006/relationships/notesMaster" Target="/ppt/notesMasters/notesMaster1.xml" Id="R22ae138342824f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https://www.mipi.org/specifications/d-phy</a:t>
            </a:r>
          </a:p>
          <a:p xmlns:a="http://schemas.openxmlformats.org/drawingml/2006/main">
            <a:r>
              <a:t>- https://ww1.microchip.com/downloads/aemDocuments/documents/FPGA/ProductDocuments/UserGuides/Microchip_RT_PolarFire_FPGA_User_IO_User_Guide_UG0931.pdf</a:t>
            </a:r>
          </a:p>
          <a:p xmlns:a="http://schemas.openxmlformats.org/drawingml/2006/main">
            <a:r>
              <a:t>- https://www.ti.com/document-viewer/lit/html/scea046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https://www.mipi.org/specifications/d-phy</a:t>
            </a:r>
          </a:p>
          <a:p xmlns:a="http://schemas.openxmlformats.org/drawingml/2006/main">
            <a:r>
              <a:t>- https://ww1.microchip.com/downloads/aemDocuments/documents/FPGA/ProductDocuments/UserGuides/Microchip_RT_PolarFire_FPGA_User_IO_User_Guide_UG0931.pdf</a:t>
            </a:r>
          </a:p>
          <a:p xmlns:a="http://schemas.openxmlformats.org/drawingml/2006/main">
            <a:r>
              <a:t>- https://docs.amd.com/r/en-US/ug861-ultrascale-selectio/IBUFDS_DPHY</a:t>
            </a:r>
          </a:p>
          <a:p xmlns:a="http://schemas.openxmlformats.org/drawingml/2006/main">
            <a:r>
              <a:t>- https://www.ti.com/document-viewer/lit/html/scea046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1fe2eb19d42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2e2693fe4849b1" /><Relationship Type="http://schemas.openxmlformats.org/officeDocument/2006/relationships/slideLayout" Target="/ppt/slideLayouts/slideLayout1.xml" Id="R4614bf0bbd8f49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14bf0bbd8f49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d894345a44214" /><Relationship Type="http://schemas.openxmlformats.org/officeDocument/2006/relationships/notesSlide" Target="/ppt/notesSlides/notesSlide1.xml" Id="R314af515862e42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dc567ff6e4936" /><Relationship Type="http://schemas.openxmlformats.org/officeDocument/2006/relationships/notesSlide" Target="/ppt/notesSlides/notesSlide2.xml" Id="R9bbdd00ab59240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1-title">
            <a:extLst xmlns:a="http://schemas.openxmlformats.org/drawingml/2006/main">
              <a:ext uri="{FF2B5EF4-FFF2-40B4-BE49-F238E27FC236}">
                <a16:creationId xmlns:a16="http://schemas.microsoft.com/office/drawing/2014/main" id="{7E41BC10-014B-4DC4-B838-07AC72F2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Schmitt와 Comparator: 같은 lane, 다른 RX 역할</a:t>
            </a:r>
          </a:p>
        </p:txBody>
      </p:sp>
      <p:sp>
        <p:nvSpPr>
          <p:cNvPr id="2" name="s1-subtitle">
            <a:extLst xmlns:a="http://schemas.openxmlformats.org/drawingml/2006/main">
              <a:ext uri="{FF2B5EF4-FFF2-40B4-BE49-F238E27FC236}">
                <a16:creationId xmlns:a16="http://schemas.microsoft.com/office/drawing/2014/main" id="{36660E79-6935-4A90-AD60-30A314E3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rPr>
              <a:t>MIPI 표준의 공식 구분은 LP와 HS이며, 두 용어는 보통 수신 프런트엔드 구현을 가리킨다.</a:t>
            </a:r>
          </a:p>
        </p:txBody>
      </p:sp>
      <p:sp>
        <p:nvSpPr>
          <p:cNvPr id="3" name="s1-divider">
            <a:extLst xmlns:a="http://schemas.openxmlformats.org/drawingml/2006/main">
              <a:ext uri="{FF2B5EF4-FFF2-40B4-BE49-F238E27FC236}">
                <a16:creationId xmlns:a16="http://schemas.microsoft.com/office/drawing/2014/main" id="{1BC2ACAB-E5DE-42D1-B33D-936EF35C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9525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1-left-underline">
            <a:extLst xmlns:a="http://schemas.openxmlformats.org/drawingml/2006/main">
              <a:ext uri="{FF2B5EF4-FFF2-40B4-BE49-F238E27FC236}">
                <a16:creationId xmlns:a16="http://schemas.microsoft.com/office/drawing/2014/main" id="{CD0562C7-3714-4AD4-AC57-CA1C6678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5286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5" name="s1-right-underline">
            <a:extLst xmlns:a="http://schemas.openxmlformats.org/drawingml/2006/main">
              <a:ext uri="{FF2B5EF4-FFF2-40B4-BE49-F238E27FC236}">
                <a16:creationId xmlns:a16="http://schemas.microsoft.com/office/drawing/2014/main" id="{1A6A33A6-0930-4B74-9139-9840ECCA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914525"/>
            <a:ext cx="5286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" name="s1-left-heading">
            <a:extLst xmlns:a="http://schemas.openxmlformats.org/drawingml/2006/main">
              <a:ext uri="{FF2B5EF4-FFF2-40B4-BE49-F238E27FC236}">
                <a16:creationId xmlns:a16="http://schemas.microsoft.com/office/drawing/2014/main" id="{1DA12216-1E36-481C-887C-0F2432B3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LP · Schmitt 계열 입력</a:t>
            </a:r>
          </a:p>
        </p:txBody>
      </p:sp>
      <p:sp>
        <p:nvSpPr>
          <p:cNvPr id="7" name="s1-right-heading">
            <a:extLst xmlns:a="http://schemas.openxmlformats.org/drawingml/2006/main">
              <a:ext uri="{FF2B5EF4-FFF2-40B4-BE49-F238E27FC236}">
                <a16:creationId xmlns:a16="http://schemas.microsoft.com/office/drawing/2014/main" id="{FD412147-168E-40DF-81A3-9B2476A9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04950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HS · Differential comparator</a:t>
            </a:r>
          </a:p>
        </p:txBody>
      </p:sp>
      <p:sp>
        <p:nvSpPr>
          <p:cNvPr id="8" name="s1-left-axis-x">
            <a:extLst xmlns:a="http://schemas.openxmlformats.org/drawingml/2006/main">
              <a:ext uri="{FF2B5EF4-FFF2-40B4-BE49-F238E27FC236}">
                <a16:creationId xmlns:a16="http://schemas.microsoft.com/office/drawing/2014/main" id="{265393F6-4B93-454C-9FEF-B81789F1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43275"/>
            <a:ext cx="428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9" name="s1-left-axis-y">
            <a:extLst xmlns:a="http://schemas.openxmlformats.org/drawingml/2006/main">
              <a:ext uri="{FF2B5EF4-FFF2-40B4-BE49-F238E27FC236}">
                <a16:creationId xmlns:a16="http://schemas.microsoft.com/office/drawing/2014/main" id="{95034F80-21BA-487B-8A34-964CA36F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9525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" name="s1-vtm-guide">
            <a:extLst xmlns:a="http://schemas.openxmlformats.org/drawingml/2006/main">
              <a:ext uri="{FF2B5EF4-FFF2-40B4-BE49-F238E27FC236}">
                <a16:creationId xmlns:a16="http://schemas.microsoft.com/office/drawing/2014/main" id="{BEA36173-8652-4436-9C25-39525EBD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81225"/>
            <a:ext cx="9525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dash"/>
          </a:ln>
        </p:spPr>
      </p:sp>
      <p:sp>
        <p:nvSpPr>
          <p:cNvPr id="11" name="s1-vtp-guide">
            <a:extLst xmlns:a="http://schemas.openxmlformats.org/drawingml/2006/main">
              <a:ext uri="{FF2B5EF4-FFF2-40B4-BE49-F238E27FC236}">
                <a16:creationId xmlns:a16="http://schemas.microsoft.com/office/drawing/2014/main" id="{344A61EB-B919-4DEC-997B-1D13893B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81225"/>
            <a:ext cx="9525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dash"/>
          </a:ln>
        </p:spPr>
      </p:sp>
      <p:sp>
        <p:nvSpPr>
          <p:cNvPr id="12" name="s1-rise-low">
            <a:extLst xmlns:a="http://schemas.openxmlformats.org/drawingml/2006/main">
              <a:ext uri="{FF2B5EF4-FFF2-40B4-BE49-F238E27FC236}">
                <a16:creationId xmlns:a16="http://schemas.microsoft.com/office/drawing/2014/main" id="{533E70A7-C4D1-4CFB-AA9E-C98C6335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2647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3" name="s1-rise-edge">
            <a:extLst xmlns:a="http://schemas.openxmlformats.org/drawingml/2006/main">
              <a:ext uri="{FF2B5EF4-FFF2-40B4-BE49-F238E27FC236}">
                <a16:creationId xmlns:a16="http://schemas.microsoft.com/office/drawing/2014/main" id="{92FD4993-299D-4BE0-BA6E-F10F92FD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95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4" name="s1-rise-high">
            <a:extLst xmlns:a="http://schemas.openxmlformats.org/drawingml/2006/main">
              <a:ext uri="{FF2B5EF4-FFF2-40B4-BE49-F238E27FC236}">
                <a16:creationId xmlns:a16="http://schemas.microsoft.com/office/drawing/2014/main" id="{C790C1FD-6FB1-47D8-B20A-B588ED21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146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5" name="s1-fall-low">
            <a:extLst xmlns:a="http://schemas.openxmlformats.org/drawingml/2006/main">
              <a:ext uri="{FF2B5EF4-FFF2-40B4-BE49-F238E27FC236}">
                <a16:creationId xmlns:a16="http://schemas.microsoft.com/office/drawing/2014/main" id="{A18D838E-7AA6-4EBF-B1D3-DCDBCA78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1752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F6670"/>
            </a:solidFill>
            <a:prstDash val="solid"/>
          </a:ln>
        </p:spPr>
      </p:sp>
      <p:sp>
        <p:nvSpPr>
          <p:cNvPr id="16" name="s1-fall-edge">
            <a:extLst xmlns:a="http://schemas.openxmlformats.org/drawingml/2006/main">
              <a:ext uri="{FF2B5EF4-FFF2-40B4-BE49-F238E27FC236}">
                <a16:creationId xmlns:a16="http://schemas.microsoft.com/office/drawing/2014/main" id="{19D9E21A-77C1-4010-B8C5-374BDF3D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95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F6670"/>
            </a:solidFill>
            <a:prstDash val="solid"/>
          </a:ln>
        </p:spPr>
      </p:sp>
      <p:sp>
        <p:nvSpPr>
          <p:cNvPr id="17" name="s1-fall-high">
            <a:extLst xmlns:a="http://schemas.openxmlformats.org/drawingml/2006/main">
              <a:ext uri="{FF2B5EF4-FFF2-40B4-BE49-F238E27FC236}">
                <a16:creationId xmlns:a16="http://schemas.microsoft.com/office/drawing/2014/main" id="{35F74641-392F-4FCB-9EED-0E134108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2362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F6670"/>
            </a:solidFill>
            <a:prstDash val="solid"/>
          </a:ln>
        </p:spPr>
      </p:sp>
      <p:sp>
        <p:nvSpPr>
          <p:cNvPr id="18" name="s1-hys-span">
            <a:extLst xmlns:a="http://schemas.openxmlformats.org/drawingml/2006/main">
              <a:ext uri="{FF2B5EF4-FFF2-40B4-BE49-F238E27FC236}">
                <a16:creationId xmlns:a16="http://schemas.microsoft.com/office/drawing/2014/main" id="{4D176057-41F7-4007-9D6A-6DF78EE1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52725"/>
            <a:ext cx="895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9" name="s1-vout">
            <a:extLst xmlns:a="http://schemas.openxmlformats.org/drawingml/2006/main">
              <a:ext uri="{FF2B5EF4-FFF2-40B4-BE49-F238E27FC236}">
                <a16:creationId xmlns:a16="http://schemas.microsoft.com/office/drawing/2014/main" id="{6237B3EC-626B-42F7-9EE7-5EFB1EE0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VOUT</a:t>
            </a:r>
          </a:p>
        </p:txBody>
      </p:sp>
      <p:sp>
        <p:nvSpPr>
          <p:cNvPr id="20" name="s1-vin">
            <a:extLst xmlns:a="http://schemas.openxmlformats.org/drawingml/2006/main">
              <a:ext uri="{FF2B5EF4-FFF2-40B4-BE49-F238E27FC236}">
                <a16:creationId xmlns:a16="http://schemas.microsoft.com/office/drawing/2014/main" id="{1BAC5492-56F6-42CE-94C3-0F20D0A4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VIN</a:t>
            </a:r>
          </a:p>
        </p:txBody>
      </p:sp>
      <p:sp>
        <p:nvSpPr>
          <p:cNvPr id="21" name="s1-vtm">
            <a:extLst xmlns:a="http://schemas.openxmlformats.org/drawingml/2006/main">
              <a:ext uri="{FF2B5EF4-FFF2-40B4-BE49-F238E27FC236}">
                <a16:creationId xmlns:a16="http://schemas.microsoft.com/office/drawing/2014/main" id="{470C557D-C632-48F0-9C47-86D6C1CB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381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rPr>
              <a:t>VT−</a:t>
            </a:r>
          </a:p>
        </p:txBody>
      </p:sp>
      <p:sp>
        <p:nvSpPr>
          <p:cNvPr id="22" name="s1-vtp">
            <a:extLst xmlns:a="http://schemas.openxmlformats.org/drawingml/2006/main">
              <a:ext uri="{FF2B5EF4-FFF2-40B4-BE49-F238E27FC236}">
                <a16:creationId xmlns:a16="http://schemas.microsoft.com/office/drawing/2014/main" id="{85691770-4096-4419-BA9D-AD111625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81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VT+</a:t>
            </a:r>
          </a:p>
        </p:txBody>
      </p:sp>
      <p:sp>
        <p:nvSpPr>
          <p:cNvPr id="23" name="s1-hys-label">
            <a:extLst xmlns:a="http://schemas.openxmlformats.org/drawingml/2006/main">
              <a:ext uri="{FF2B5EF4-FFF2-40B4-BE49-F238E27FC236}">
                <a16:creationId xmlns:a16="http://schemas.microsoft.com/office/drawing/2014/main" id="{9D127BF0-B5B3-43C8-A1FE-27C0E495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717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ΔVHYS</a:t>
            </a:r>
          </a:p>
        </p:txBody>
      </p:sp>
      <p:sp>
        <p:nvSpPr>
          <p:cNvPr id="24" name="s1-rise-label">
            <a:extLst xmlns:a="http://schemas.openxmlformats.org/drawingml/2006/main">
              <a:ext uri="{FF2B5EF4-FFF2-40B4-BE49-F238E27FC236}">
                <a16:creationId xmlns:a16="http://schemas.microsoft.com/office/drawing/2014/main" id="{CD0F6839-1F4A-484C-BA38-04F643D6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764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상승 경로</a:t>
            </a:r>
          </a:p>
        </p:txBody>
      </p:sp>
      <p:sp>
        <p:nvSpPr>
          <p:cNvPr id="25" name="s1-fall-label">
            <a:extLst xmlns:a="http://schemas.openxmlformats.org/drawingml/2006/main">
              <a:ext uri="{FF2B5EF4-FFF2-40B4-BE49-F238E27FC236}">
                <a16:creationId xmlns:a16="http://schemas.microsoft.com/office/drawing/2014/main" id="{FD9A8011-BE71-49B1-8AB3-C47D73EB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0764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rPr>
              <a:t>하강 경로</a:t>
            </a:r>
          </a:p>
        </p:txBody>
      </p:sp>
      <p:sp>
        <p:nvSpPr>
          <p:cNvPr id="26" name="s1-dp-line">
            <a:extLst xmlns:a="http://schemas.openxmlformats.org/drawingml/2006/main">
              <a:ext uri="{FF2B5EF4-FFF2-40B4-BE49-F238E27FC236}">
                <a16:creationId xmlns:a16="http://schemas.microsoft.com/office/drawing/2014/main" id="{4FB61151-0F84-498B-B904-A9D2B6F5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9825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27" name="s1-dn-line">
            <a:extLst xmlns:a="http://schemas.openxmlformats.org/drawingml/2006/main">
              <a:ext uri="{FF2B5EF4-FFF2-40B4-BE49-F238E27FC236}">
                <a16:creationId xmlns:a16="http://schemas.microsoft.com/office/drawing/2014/main" id="{FAFE4046-0F78-4640-8F01-EC2F31AF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43225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F6670"/>
            </a:solidFill>
            <a:prstDash val="solid"/>
          </a:ln>
        </p:spPr>
      </p:sp>
      <p:sp>
        <p:nvSpPr>
          <p:cNvPr id="28" name="s1-out-line">
            <a:extLst xmlns:a="http://schemas.openxmlformats.org/drawingml/2006/main">
              <a:ext uri="{FF2B5EF4-FFF2-40B4-BE49-F238E27FC236}">
                <a16:creationId xmlns:a16="http://schemas.microsoft.com/office/drawing/2014/main" id="{91235325-688F-466F-B31F-347CD204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76525"/>
            <a:ext cx="1714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29" name="s1-comparator-symbol">
            <a:extLst xmlns:a="http://schemas.openxmlformats.org/drawingml/2006/main">
              <a:ext uri="{FF2B5EF4-FFF2-40B4-BE49-F238E27FC236}">
                <a16:creationId xmlns:a16="http://schemas.microsoft.com/office/drawing/2014/main" id="{9A9B073F-0865-4CB7-A723-E444DC01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62950" y="2209800"/>
            <a:ext cx="1066800" cy="990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EF7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0" name="s1-plus">
            <a:extLst xmlns:a="http://schemas.openxmlformats.org/drawingml/2006/main">
              <a:ext uri="{FF2B5EF4-FFF2-40B4-BE49-F238E27FC236}">
                <a16:creationId xmlns:a16="http://schemas.microsoft.com/office/drawing/2014/main" id="{81A83CF7-A780-457F-80B1-8F59A0A9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764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31" name="s1-minus">
            <a:extLst xmlns:a="http://schemas.openxmlformats.org/drawingml/2006/main">
              <a:ext uri="{FF2B5EF4-FFF2-40B4-BE49-F238E27FC236}">
                <a16:creationId xmlns:a16="http://schemas.microsoft.com/office/drawing/2014/main" id="{81214CD8-96C4-4D6B-961E-47D5A346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38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rPr>
              <a:t>−</a:t>
            </a:r>
          </a:p>
        </p:txBody>
      </p:sp>
      <p:sp>
        <p:nvSpPr>
          <p:cNvPr id="32" name="s1-dp">
            <a:extLst xmlns:a="http://schemas.openxmlformats.org/drawingml/2006/main">
              <a:ext uri="{FF2B5EF4-FFF2-40B4-BE49-F238E27FC236}">
                <a16:creationId xmlns:a16="http://schemas.microsoft.com/office/drawing/2014/main" id="{658460C1-E43E-4A8E-B589-80C66AAE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669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DP</a:t>
            </a:r>
          </a:p>
        </p:txBody>
      </p:sp>
      <p:sp>
        <p:nvSpPr>
          <p:cNvPr id="33" name="s1-dn">
            <a:extLst xmlns:a="http://schemas.openxmlformats.org/drawingml/2006/main">
              <a:ext uri="{FF2B5EF4-FFF2-40B4-BE49-F238E27FC236}">
                <a16:creationId xmlns:a16="http://schemas.microsoft.com/office/drawing/2014/main" id="{37B14047-4BA1-4C0F-9CDF-35F6CA0F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003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rPr>
              <a:t>DN</a:t>
            </a:r>
          </a:p>
        </p:txBody>
      </p:sp>
      <p:sp>
        <p:nvSpPr>
          <p:cNvPr id="34" name="s1-bit">
            <a:extLst xmlns:a="http://schemas.openxmlformats.org/drawingml/2006/main">
              <a:ext uri="{FF2B5EF4-FFF2-40B4-BE49-F238E27FC236}">
                <a16:creationId xmlns:a16="http://schemas.microsoft.com/office/drawing/2014/main" id="{4F611FC9-FFA2-47A6-A501-6702F210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253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BIT</a:t>
            </a:r>
          </a:p>
        </p:txBody>
      </p:sp>
      <p:sp>
        <p:nvSpPr>
          <p:cNvPr id="35" name="s1-formula">
            <a:extLst xmlns:a="http://schemas.openxmlformats.org/drawingml/2006/main">
              <a:ext uri="{FF2B5EF4-FFF2-40B4-BE49-F238E27FC236}">
                <a16:creationId xmlns:a16="http://schemas.microsoft.com/office/drawing/2014/main" id="{E91A677A-D886-492D-898B-6450CFB8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bit = sign(VDP − VDN)</a:t>
            </a:r>
          </a:p>
        </p:txBody>
      </p:sp>
      <p:sp>
        <p:nvSpPr>
          <p:cNvPr id="36" name="s1-left-bullets">
            <a:extLst xmlns:a="http://schemas.openxmlformats.org/drawingml/2006/main">
              <a:ext uri="{FF2B5EF4-FFF2-40B4-BE49-F238E27FC236}">
                <a16:creationId xmlns:a16="http://schemas.microsoft.com/office/drawing/2014/main" id="{03B7253C-2E21-41F3-AFAD-9CCF34CF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528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P/N 각 선을 GND 기준으로 독립 판정</a:t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VT+·VT− 히스테리시스로 chatter 억제</a:t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LP-00/01/10/11 감지 · 비종단</a:t>
            </a:r>
          </a:p>
        </p:txBody>
      </p:sp>
      <p:sp>
        <p:nvSpPr>
          <p:cNvPr id="37" name="s1-right-bullets">
            <a:extLst xmlns:a="http://schemas.openxmlformats.org/drawingml/2006/main">
              <a:ext uri="{FF2B5EF4-FFF2-40B4-BE49-F238E27FC236}">
                <a16:creationId xmlns:a16="http://schemas.microsoft.com/office/drawing/2014/main" id="{87B456AD-F321-403A-A492-DB956A6E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67150"/>
            <a:ext cx="528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DP−DN의 작은 차동전압을 고속 판정</a:t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낮은 swing · 공통모드 잡음 억제</a:t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• HS payload/clock · 약 100 Ω 종단</a:t>
            </a:r>
          </a:p>
        </p:txBody>
      </p:sp>
      <p:sp>
        <p:nvSpPr>
          <p:cNvPr id="38" name="s1-key-strip">
            <a:extLst xmlns:a="http://schemas.openxmlformats.org/drawingml/2006/main">
              <a:ext uri="{FF2B5EF4-FFF2-40B4-BE49-F238E27FC236}">
                <a16:creationId xmlns:a16="http://schemas.microsoft.com/office/drawing/2014/main" id="{5D9DD982-9635-4CA5-A957-81852E02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53075"/>
            <a:ext cx="1127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9" name="s1-key">
            <a:extLst xmlns:a="http://schemas.openxmlformats.org/drawingml/2006/main">
              <a:ext uri="{FF2B5EF4-FFF2-40B4-BE49-F238E27FC236}">
                <a16:creationId xmlns:a16="http://schemas.microsoft.com/office/drawing/2014/main" id="{616F77FE-1580-402A-AD83-B176EB48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핵심  Schmitt trigger 자체도 ‘히스테리시스가 추가된 comparator’다.</a:t>
            </a:r>
          </a:p>
        </p:txBody>
      </p:sp>
      <p:sp>
        <p:nvSpPr>
          <p:cNvPr id="40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61FFE9FD-6BF0-4550-8AB2-3D0B32E3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11852A03-C063-4A77-8378-1FD380D5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rPr>
              <a:t>MIPI D-PHY · RX 회로 비교</a:t>
            </a:r>
          </a:p>
        </p:txBody>
      </p:sp>
      <p:sp>
        <p:nvSpPr>
          <p:cNvPr id="42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EDBBE042-A425-4B9C-AE10-2144A8FC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07949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2-title">
            <a:extLst xmlns:a="http://schemas.openxmlformats.org/drawingml/2006/main">
              <a:ext uri="{FF2B5EF4-FFF2-40B4-BE49-F238E27FC236}">
                <a16:creationId xmlns:a16="http://schemas.microsoft.com/office/drawing/2014/main" id="{D62F76D4-3887-47D9-93C0-339A9596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비교의 핵심은 속도가 아니라 신호 방식이다</a:t>
            </a:r>
          </a:p>
        </p:txBody>
      </p:sp>
      <p:sp>
        <p:nvSpPr>
          <p:cNvPr id="2" name="s2-subtitle">
            <a:extLst xmlns:a="http://schemas.openxmlformats.org/drawingml/2006/main">
              <a:ext uri="{FF2B5EF4-FFF2-40B4-BE49-F238E27FC236}">
                <a16:creationId xmlns:a16="http://schemas.microsoft.com/office/drawing/2014/main" id="{2ABD97DD-77EF-4E6E-8112-EFB09E85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rPr>
              <a:t>LP는 single-ended·비종단, HS는 differential·종단 신호다. 실제 enable 방식은 PHY IP 구현에 따른다.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1619250"/>
          <a:ext xmlns:a="http://schemas.openxmlformats.org/drawingml/2006/main" cx="112776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52600"/>
                <a:gridCol w="4762500"/>
                <a:gridCol w="4762500"/>
              </a:tblGrid>
              <a:tr h="5524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 기준</a:t>
                      </a:r>
                    </a:p>
                  </a:txBody>
                  <a:tcPr marL="114300" marR="114300" marT="66675" marB="66675" anchor="ctr" horzOverflow="clip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Schmitt 계열 · LP-RX</a:t>
                      </a:r>
                    </a:p>
                  </a:txBody>
                  <a:tcPr marL="114300" marR="114300" marT="66675" marB="66675" anchor="ctr" horzOverflow="clip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Differential comparator · HS-RX</a:t>
                      </a:r>
                    </a:p>
                  </a:txBody>
                  <a:tcPr marL="114300" marR="114300" marT="66675" marB="66675" anchor="ctr" horzOverflow="clip">
                    <a:solidFill>
                      <a:srgbClr val="111111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판정 입력</a:t>
                      </a:r>
                    </a:p>
                  </a:txBody>
                  <a:tcPr marL="114300" marR="114300" marT="66675" marB="66675" anchor="ctr" horzOverflow="clip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P/N 각 선을 독립 판정</a:t>
                      </a:r>
                    </a:p>
                  </a:txBody>
                  <a:tcPr marL="114300" marR="114300" marT="66675" marB="66675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VDP − VDN 차동 판정</a:t>
                      </a:r>
                    </a:p>
                  </a:txBody>
                  <a:tcPr marL="114300" marR="114300" marT="66675" marB="66675" anchor="ctr" horzOverflow="clip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임계 특성</a:t>
                      </a:r>
                    </a:p>
                  </a:txBody>
                  <a:tcPr marL="114300" marR="114300" marT="66675" marB="66675" anchor="ctr" horzOverflow="clip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VT+ ≠ VT− · 히스테리시스</a:t>
                      </a:r>
                    </a:p>
                  </a:txBody>
                  <a:tcPr marL="114300" marR="114300" marT="66675" marB="66675" anchor="ctr" horzOverflow="clip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작은 차동 임계 · offset 관리</a:t>
                      </a:r>
                    </a:p>
                  </a:txBody>
                  <a:tcPr marL="114300" marR="114300" marT="66675" marB="66675" anchor="ctr" horzOverflow="clip">
                    <a:solidFill>
                      <a:srgbClr val="FAFAF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신호/종단</a:t>
                      </a:r>
                    </a:p>
                  </a:txBody>
                  <a:tcPr marL="114300" marR="114300" marT="66675" marB="66675" anchor="ctr" horzOverflow="clip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큰 single-ended swing · 비종단</a:t>
                      </a:r>
                    </a:p>
                  </a:txBody>
                  <a:tcPr marL="114300" marR="114300" marT="66675" marB="66675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작은 differential swing · 약 100 Ω</a:t>
                      </a:r>
                    </a:p>
                  </a:txBody>
                  <a:tcPr marL="114300" marR="114300" marT="66675" marB="66675" anchor="ctr" horzOverflow="clip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강점</a:t>
                      </a:r>
                    </a:p>
                  </a:txBody>
                  <a:tcPr marL="114300" marR="114300" marT="66675" marB="66675" anchor="ctr" horzOverflow="clip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느린 edge와 임계 부근 잡음에 강함</a:t>
                      </a:r>
                    </a:p>
                  </a:txBody>
                  <a:tcPr marL="114300" marR="114300" marT="66675" marB="66675" anchor="ctr" horzOverflow="clip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고속 처리와 공통모드 잡음 억제</a:t>
                      </a:r>
                    </a:p>
                  </a:txBody>
                  <a:tcPr marL="114300" marR="114300" marT="66675" marB="66675" anchor="ctr" horzOverflow="clip">
                    <a:solidFill>
                      <a:srgbClr val="FAFAF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설계 주의</a:t>
                      </a:r>
                    </a:p>
                  </a:txBody>
                  <a:tcPr marL="114300" marR="114300" marT="66675" marB="66675" anchor="ctr" horzOverflow="clip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PVT/VDD에 따른 threshold · timing shift</a:t>
                      </a:r>
                    </a:p>
                  </a:txBody>
                  <a:tcPr marL="114300" marR="114300" marT="66675" marB="66675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common-mode · bias · skew · impedance</a:t>
                      </a:r>
                    </a:p>
                  </a:txBody>
                  <a:tcPr marL="114300" marR="114300" marT="66675" marB="66675" anchor="ctr" horzOverflow="clip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MIPI 역할</a:t>
                      </a:r>
                    </a:p>
                  </a:txBody>
                  <a:tcPr marL="114300" marR="114300" marT="66675" marB="66675" anchor="ctr" horzOverflow="clip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Stop/Escape/ULPS 및 HS 진입 감지</a:t>
                      </a:r>
                    </a:p>
                  </a:txBody>
                  <a:tcPr marL="114300" marR="114300" marT="66675" marB="66675" anchor="ctr" horzOverflow="clip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HS clock과 payload 수신</a:t>
                      </a:r>
                    </a:p>
                  </a:txBody>
                  <a:tcPr marL="114300" marR="114300" marT="66675" marB="66675" anchor="ctr" horzOverflow="clip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s2-conclusion-label">
            <a:extLst xmlns:a="http://schemas.openxmlformats.org/drawingml/2006/main">
              <a:ext uri="{FF2B5EF4-FFF2-40B4-BE49-F238E27FC236}">
                <a16:creationId xmlns:a16="http://schemas.microsoft.com/office/drawing/2014/main" id="{7AECAAC1-853A-461A-B2DF-A1DE186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실무 결론</a:t>
            </a:r>
          </a:p>
        </p:txBody>
      </p:sp>
      <p:sp>
        <p:nvSpPr>
          <p:cNvPr id="5" name="s2-conclusion">
            <a:extLst xmlns:a="http://schemas.openxmlformats.org/drawingml/2006/main">
              <a:ext uri="{FF2B5EF4-FFF2-40B4-BE49-F238E27FC236}">
                <a16:creationId xmlns:a16="http://schemas.microsoft.com/office/drawing/2014/main" id="{366A3A45-10C0-411A-92B7-4747D51B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76900"/>
            <a:ext cx="998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정상 동작은 lane FSM이 LP-RX로 진입 시퀀스를 보고 HS-RX와 termination을 활성화한다.</a:t>
            </a:r>
          </a:p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레지스터명이 Schmitt/Comparator라면 해당 IP의 TRM 정의를 우선한다.</a:t>
            </a:r>
          </a:p>
        </p:txBody>
      </p:sp>
      <p:sp>
        <p:nvSpPr>
          <p:cNvPr id="6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00D9709-ABAA-4EBE-BB1C-1A012E57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1277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EFFFBE11-49DD-4E7B-AB6D-6F76884F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rPr>
              <a:t>MIPI D-PHY · RX 회로 비교</a:t>
            </a:r>
          </a:p>
        </p:txBody>
      </p:sp>
      <p:sp>
        <p:nvSpPr>
          <p:cNvPr id="8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EEAF45BB-30CF-4203-AE86-6E936E99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5F6670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62654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2026-08-10T01:03:40.6880000Z</dcterms:created>
  <dcterms:modified xsi:type="dcterms:W3CDTF">2026-08-10T01:03:40.6880000Z</dcterms:modified>
</coreProperties>
</file>