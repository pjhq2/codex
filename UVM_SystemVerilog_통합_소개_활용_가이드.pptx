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35836cbae94076" /><Relationship Type="http://schemas.openxmlformats.org/officeDocument/2006/relationships/extended-properties" Target="/docProps/app.xml" Id="R425d957f051542ee" /><Relationship Type="http://schemas.openxmlformats.org/officeDocument/2006/relationships/officeDocument" Target="/ppt/presentation.xml" Id="Rc20be5ad4f8e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bdb99aa8a47bc"/>
  </p:sldMasterIdLst>
  <p:notesMasterIdLst>
    <p:notesMasterId xmlns:r="http://schemas.openxmlformats.org/officeDocument/2006/relationships" r:id="Rb202216bc5284b52"/>
  </p:notesMasterIdLst>
  <p:sldIdLst>
    <p:sldId xmlns:r="http://schemas.openxmlformats.org/officeDocument/2006/relationships" id="256" r:id="Rae75ab7395f54729"/>
    <p:sldId xmlns:r="http://schemas.openxmlformats.org/officeDocument/2006/relationships" id="257" r:id="Rdd9f115b20ab4554"/>
    <p:sldId xmlns:r="http://schemas.openxmlformats.org/officeDocument/2006/relationships" id="258" r:id="R5fb417ad766f47f4"/>
    <p:sldId xmlns:r="http://schemas.openxmlformats.org/officeDocument/2006/relationships" id="259" r:id="R9b14773e45ef4e2f"/>
    <p:sldId xmlns:r="http://schemas.openxmlformats.org/officeDocument/2006/relationships" id="260" r:id="R99b65321b20f432a"/>
    <p:sldId xmlns:r="http://schemas.openxmlformats.org/officeDocument/2006/relationships" id="261" r:id="Rf8c9677ebd5b42fb"/>
    <p:sldId xmlns:r="http://schemas.openxmlformats.org/officeDocument/2006/relationships" id="262" r:id="R74c09165a8774a3b"/>
    <p:sldId xmlns:r="http://schemas.openxmlformats.org/officeDocument/2006/relationships" id="263" r:id="R8b1d1bd5cd9d4ef3"/>
    <p:sldId xmlns:r="http://schemas.openxmlformats.org/officeDocument/2006/relationships" id="264" r:id="R94c2f9a0f3cc4720"/>
    <p:sldId xmlns:r="http://schemas.openxmlformats.org/officeDocument/2006/relationships" id="265" r:id="R775393d0f65d4d82"/>
    <p:sldId xmlns:r="http://schemas.openxmlformats.org/officeDocument/2006/relationships" id="266" r:id="Re155a93cecde4965"/>
    <p:sldId xmlns:r="http://schemas.openxmlformats.org/officeDocument/2006/relationships" id="267" r:id="Rc514cee5f6ad44b2"/>
    <p:sldId xmlns:r="http://schemas.openxmlformats.org/officeDocument/2006/relationships" id="268" r:id="R5247bf262ae74849"/>
    <p:sldId xmlns:r="http://schemas.openxmlformats.org/officeDocument/2006/relationships" id="269" r:id="Rd2bbbb6463234b40"/>
    <p:sldId xmlns:r="http://schemas.openxmlformats.org/officeDocument/2006/relationships" id="270" r:id="Rd34b8c056c6e454a"/>
    <p:sldId xmlns:r="http://schemas.openxmlformats.org/officeDocument/2006/relationships" id="271" r:id="R8a46de8cf22245bd"/>
    <p:sldId xmlns:r="http://schemas.openxmlformats.org/officeDocument/2006/relationships" id="272" r:id="Rc9ee8b8e113948d7"/>
    <p:sldId xmlns:r="http://schemas.openxmlformats.org/officeDocument/2006/relationships" id="273" r:id="R663ab56b50ae4196"/>
    <p:sldId xmlns:r="http://schemas.openxmlformats.org/officeDocument/2006/relationships" id="274" r:id="R18bf226d11c4419f"/>
    <p:sldId xmlns:r="http://schemas.openxmlformats.org/officeDocument/2006/relationships" id="275" r:id="Ra7dbaa70fe6c4fbd"/>
    <p:sldId xmlns:r="http://schemas.openxmlformats.org/officeDocument/2006/relationships" id="276" r:id="R6cbd92417218479e"/>
    <p:sldId xmlns:r="http://schemas.openxmlformats.org/officeDocument/2006/relationships" id="277" r:id="R32a4d06be9ce42da"/>
    <p:sldId xmlns:r="http://schemas.openxmlformats.org/officeDocument/2006/relationships" id="278" r:id="R1173fe06ce8a49bf"/>
    <p:sldId xmlns:r="http://schemas.openxmlformats.org/officeDocument/2006/relationships" id="279" r:id="R442c8a9e081e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52073479e40a0" /><Relationship Type="http://schemas.openxmlformats.org/officeDocument/2006/relationships/slideMaster" Target="/ppt/slideMasters/slideMaster1.xml" Id="Rdadbdb99aa8a47bc" /><Relationship Type="http://schemas.openxmlformats.org/officeDocument/2006/relationships/notesMaster" Target="/ppt/notesMasters/notesMaster1.xml" Id="Rb202216bc5284b52" /><Relationship Type="http://schemas.openxmlformats.org/officeDocument/2006/relationships/presProps" Target="/ppt/presProps.xml" Id="Rf7734df06a454c10" /><Relationship Type="http://schemas.openxmlformats.org/officeDocument/2006/relationships/tableStyles" Target="/ppt/tableStyles.xml" Id="R6373c75abacd4c92" /><Relationship Type="http://schemas.openxmlformats.org/officeDocument/2006/relationships/slide" Target="/ppt/slides/slide1.xml" Id="Rae75ab7395f54729" /><Relationship Type="http://schemas.openxmlformats.org/officeDocument/2006/relationships/slide" Target="/ppt/slides/slide2.xml" Id="Rdd9f115b20ab4554" /><Relationship Type="http://schemas.openxmlformats.org/officeDocument/2006/relationships/slide" Target="/ppt/slides/slide3.xml" Id="R5fb417ad766f47f4" /><Relationship Type="http://schemas.openxmlformats.org/officeDocument/2006/relationships/slide" Target="/ppt/slides/slide4.xml" Id="R9b14773e45ef4e2f" /><Relationship Type="http://schemas.openxmlformats.org/officeDocument/2006/relationships/slide" Target="/ppt/slides/slide5.xml" Id="R99b65321b20f432a" /><Relationship Type="http://schemas.openxmlformats.org/officeDocument/2006/relationships/slide" Target="/ppt/slides/slide6.xml" Id="Rf8c9677ebd5b42fb" /><Relationship Type="http://schemas.openxmlformats.org/officeDocument/2006/relationships/slide" Target="/ppt/slides/slide7.xml" Id="R74c09165a8774a3b" /><Relationship Type="http://schemas.openxmlformats.org/officeDocument/2006/relationships/slide" Target="/ppt/slides/slide8.xml" Id="R8b1d1bd5cd9d4ef3" /><Relationship Type="http://schemas.openxmlformats.org/officeDocument/2006/relationships/slide" Target="/ppt/slides/slide9.xml" Id="R94c2f9a0f3cc4720" /><Relationship Type="http://schemas.openxmlformats.org/officeDocument/2006/relationships/slide" Target="/ppt/slides/slide10.xml" Id="R775393d0f65d4d82" /><Relationship Type="http://schemas.openxmlformats.org/officeDocument/2006/relationships/slide" Target="/ppt/slides/slide11.xml" Id="Re155a93cecde4965" /><Relationship Type="http://schemas.openxmlformats.org/officeDocument/2006/relationships/slide" Target="/ppt/slides/slide12.xml" Id="Rc514cee5f6ad44b2" /><Relationship Type="http://schemas.openxmlformats.org/officeDocument/2006/relationships/slide" Target="/ppt/slides/slide13.xml" Id="R5247bf262ae74849" /><Relationship Type="http://schemas.openxmlformats.org/officeDocument/2006/relationships/slide" Target="/ppt/slides/slide14.xml" Id="Rd2bbbb6463234b40" /><Relationship Type="http://schemas.openxmlformats.org/officeDocument/2006/relationships/slide" Target="/ppt/slides/slide15.xml" Id="Rd34b8c056c6e454a" /><Relationship Type="http://schemas.openxmlformats.org/officeDocument/2006/relationships/slide" Target="/ppt/slides/slide16.xml" Id="R8a46de8cf22245bd" /><Relationship Type="http://schemas.openxmlformats.org/officeDocument/2006/relationships/slide" Target="/ppt/slides/slide17.xml" Id="Rc9ee8b8e113948d7" /><Relationship Type="http://schemas.openxmlformats.org/officeDocument/2006/relationships/slide" Target="/ppt/slides/slide18.xml" Id="R663ab56b50ae4196" /><Relationship Type="http://schemas.openxmlformats.org/officeDocument/2006/relationships/slide" Target="/ppt/slides/slide19.xml" Id="R18bf226d11c4419f" /><Relationship Type="http://schemas.openxmlformats.org/officeDocument/2006/relationships/slide" Target="/ppt/slides/slide20.xml" Id="Ra7dbaa70fe6c4fbd" /><Relationship Type="http://schemas.openxmlformats.org/officeDocument/2006/relationships/slide" Target="/ppt/slides/slide21.xml" Id="R6cbd92417218479e" /><Relationship Type="http://schemas.openxmlformats.org/officeDocument/2006/relationships/slide" Target="/ppt/slides/slide22.xml" Id="R32a4d06be9ce42da" /><Relationship Type="http://schemas.openxmlformats.org/officeDocument/2006/relationships/slide" Target="/ppt/slides/slide23.xml" Id="R1173fe06ce8a49bf" /><Relationship Type="http://schemas.openxmlformats.org/officeDocument/2006/relationships/slide" Target="/ppt/slides/slide24.xml" Id="R442c8a9e081e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d904f50fdb44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89efedff2042c9" /><Relationship Type="http://schemas.openxmlformats.org/officeDocument/2006/relationships/notesMaster" Target="/ppt/notesMasters/notesMaster1.xml" Id="R5d8a6b792b0849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286ab7a6d249cf" /><Relationship Type="http://schemas.openxmlformats.org/officeDocument/2006/relationships/notesMaster" Target="/ppt/notesMasters/notesMaster1.xml" Id="R6ee7dfc5dd4a4f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718b4842c4535" /><Relationship Type="http://schemas.openxmlformats.org/officeDocument/2006/relationships/notesMaster" Target="/ppt/notesMasters/notesMaster1.xml" Id="R63b7354923a844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c54110c4cd428a" /><Relationship Type="http://schemas.openxmlformats.org/officeDocument/2006/relationships/notesMaster" Target="/ppt/notesMasters/notesMaster1.xml" Id="R1abad0f5a07f46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53f21f7d3e4d9d" /><Relationship Type="http://schemas.openxmlformats.org/officeDocument/2006/relationships/notesMaster" Target="/ppt/notesMasters/notesMaster1.xml" Id="R276c6d4d5f1949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f7cc03a48d45a5" /><Relationship Type="http://schemas.openxmlformats.org/officeDocument/2006/relationships/notesMaster" Target="/ppt/notesMasters/notesMaster1.xml" Id="R548af72728334f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c2b6231d0d4fd3" /><Relationship Type="http://schemas.openxmlformats.org/officeDocument/2006/relationships/notesMaster" Target="/ppt/notesMasters/notesMaster1.xml" Id="Rc2229affa4f64b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1ea0065c76438f" /><Relationship Type="http://schemas.openxmlformats.org/officeDocument/2006/relationships/notesMaster" Target="/ppt/notesMasters/notesMaster1.xml" Id="R68b734b784e34a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8148b7e8ad4c20" /><Relationship Type="http://schemas.openxmlformats.org/officeDocument/2006/relationships/notesMaster" Target="/ppt/notesMasters/notesMaster1.xml" Id="R4f4b0c242d2846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62246218e74aec" /><Relationship Type="http://schemas.openxmlformats.org/officeDocument/2006/relationships/notesMaster" Target="/ppt/notesMasters/notesMaster1.xml" Id="R8ea7b1495b3f4e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37cb1a0ff4486" /><Relationship Type="http://schemas.openxmlformats.org/officeDocument/2006/relationships/notesMaster" Target="/ppt/notesMasters/notesMaster1.xml" Id="R0aade84fe76742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0ea36751fe4b27" /><Relationship Type="http://schemas.openxmlformats.org/officeDocument/2006/relationships/notesMaster" Target="/ppt/notesMasters/notesMaster1.xml" Id="Rc6bfc71fa7f84d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547cd149c54b04" /><Relationship Type="http://schemas.openxmlformats.org/officeDocument/2006/relationships/notesMaster" Target="/ppt/notesMasters/notesMaster1.xml" Id="Rb06c563b66274e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0aa24cb56f46ab" /><Relationship Type="http://schemas.openxmlformats.org/officeDocument/2006/relationships/notesMaster" Target="/ppt/notesMasters/notesMaster1.xml" Id="R2ba94b0a429d4f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db4beca8414d93" /><Relationship Type="http://schemas.openxmlformats.org/officeDocument/2006/relationships/notesMaster" Target="/ppt/notesMasters/notesMaster1.xml" Id="Ra4bb61cf3d7d4c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a6ccab3b0a4902" /><Relationship Type="http://schemas.openxmlformats.org/officeDocument/2006/relationships/notesMaster" Target="/ppt/notesMasters/notesMaster1.xml" Id="R158f803793eb4e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3bc88a105e400a" /><Relationship Type="http://schemas.openxmlformats.org/officeDocument/2006/relationships/notesMaster" Target="/ppt/notesMasters/notesMaster1.xml" Id="Rac97c327464e4b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7fb3bbb4d6470e" /><Relationship Type="http://schemas.openxmlformats.org/officeDocument/2006/relationships/notesMaster" Target="/ppt/notesMasters/notesMaster1.xml" Id="R4a6f601524fc48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293e4916b440f6" /><Relationship Type="http://schemas.openxmlformats.org/officeDocument/2006/relationships/notesMaster" Target="/ppt/notesMasters/notesMaster1.xml" Id="Rb82bc4d764e148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24a3768b92492f" /><Relationship Type="http://schemas.openxmlformats.org/officeDocument/2006/relationships/notesMaster" Target="/ppt/notesMasters/notesMaster1.xml" Id="R7274848359ef40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bc67d61c88449b" /><Relationship Type="http://schemas.openxmlformats.org/officeDocument/2006/relationships/notesMaster" Target="/ppt/notesMasters/notesMaster1.xml" Id="R8ca1c340297e43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b4f8d57a2f4403" /><Relationship Type="http://schemas.openxmlformats.org/officeDocument/2006/relationships/notesMaster" Target="/ppt/notesMasters/notesMaster1.xml" Id="R9b8730f7fda44c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a8f2ea5e8f4244" /><Relationship Type="http://schemas.openxmlformats.org/officeDocument/2006/relationships/notesMaster" Target="/ppt/notesMasters/notesMaster1.xml" Id="R23fcb914c8f542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7f213fe5884d09" /><Relationship Type="http://schemas.openxmlformats.org/officeDocument/2006/relationships/notesMaster" Target="/ppt/notesMasters/notesMaster1.xml" Id="Recf432d3c19143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목표를 먼저 제시합니다. 청중이 발표 후 SystemVerilog와 UVM의 관계, 도입 이유, 핵심 구조, 실무 사용 원칙을 설명할 수 있어야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검증은 테스트 개수 경쟁이 아니라 피드백 루프의 품질 문제라는 관점을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UVM은 별도 언어나 시뮬레이터가 아니라 SystemVerilog 위에 만들어진 표준 방법론이라는 경계를 분명히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규모와 설계 복잡도가 커질수록 재현성·재사용·독립성·측정 가능성이 비용을 좌우합니다.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 path는 의도를 전달하고, observed data path는 DUT가 실제로 한 일을 독립적으로 복원합니다.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SystemVerilog 기능은 문법 목록보다 검증 책임에 따라 구조화해서 익히는 편이 실무 전환이 빠릅니다.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Clocking block은 단순 편의 문법이 아니라 sample/drive 시점에 대한 계약입니다.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Transaction은 여러 컴포넌트가 공유하는 의미 단위이므로 객체 수명과 복사 정책까지 함께 설계합니다.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Constrained random은 합법 공간과 분포 의도를 분리하고 seed로 재현 가능해야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SVA는 protocol 규칙이 깨진 최초 시점을 가장 가까운 곳에서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Coverage는 무엇을 실행했는지를 말할 뿐, 결과가 옳았다는 판정을 대체하지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UVM topology를 역할과 책임의 공개 API로 보고 내부 구현 세부를 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Phase별 책임을 고정하면 구조 오류, 실행 오류, 잔여 데이터 오류를 서로 다른 시점에 분리해 찾을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UVC 재사용은 코드 복사가 아니라 config와 연결만 바꿔 다른 환경에 적용되는지를 기준으로 평가합니다.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Factory와 config_db의 책임을 구분합니다. 하나는 타입 선택, 다른 하나는 값과 의존성 전달입니다.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Sequence와 driver 양쪽의 blocking 지점을 이해해야 hang과 response 손실을 진단할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Monitor는 관찰에 집중하고 consumer의 처리 속도와 실패 정책에 결합되지 않게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RAL은 register API 자체보다 bus 관측과 mirror 상태가 일관되게 유지되는지가 핵심입니다.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테스트 종료는 고정 시간보다 stimulus, outstanding, scoreboard, watchdog 상태로 증명합니다.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처음부터 거대한 환경을 만들기보다 한 기능의 vertical slice를 끝까지 닫고 확장합니다.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Anti-pattern은 대부분 책임 경계나 데이터 소유권이 흐려질 때 발생합니다.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동일 실패를 재현하고 최초 divergence를 찾은 뒤, 측정된 hot path만 최적화합니다.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UVM은 모든 블록에 강제할 규칙이 아닙니다. 구조 비용보다 재사용·협업·운영 이익이 큰지 판단합니다.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마무리에서는 작은 DUT 하나를 선택해 sequence–driver–monitor–scoreboard–coverage를 끝까지 연결하는 다음 행동을 제안합니다.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UVM_SystemVerilog_입문_발표자료.pptx</a:t>
            </a:r>
          </a:p>
          <a:p xmlns:a="http://schemas.openxmlformats.org/drawingml/2006/main">
            <a:r>
              <a:t>- Local: UVM_SystemVerilog_중급_고급_실무_가이드.pptx</a:t>
            </a:r>
          </a:p>
          <a:p xmlns:a="http://schemas.openxmlformats.org/drawingml/2006/main">
            <a:r>
              <a:t>- Local: UVM_SystemVerilog_실무_고급_주요개념_설명서.pptx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9ea966dd248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355e6fd8143b7" /><Relationship Type="http://schemas.openxmlformats.org/officeDocument/2006/relationships/slideLayout" Target="/ppt/slideLayouts/slideLayout1.xml" Id="Rda0b64e18496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b64e18496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49bb9dacc4c22" /><Relationship Type="http://schemas.openxmlformats.org/officeDocument/2006/relationships/notesSlide" Target="/ppt/notesSlides/notesSlide1.xml" Id="R7680082890ed47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1c48fb6934f29" /><Relationship Type="http://schemas.openxmlformats.org/officeDocument/2006/relationships/notesSlide" Target="/ppt/notesSlides/notesSlide2.xml" Id="R4196463800c94c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b82b32060465a" /><Relationship Type="http://schemas.openxmlformats.org/officeDocument/2006/relationships/notesSlide" Target="/ppt/notesSlides/notesSlide3.xml" Id="Re0350f750a2245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eba33fcb24841" /><Relationship Type="http://schemas.openxmlformats.org/officeDocument/2006/relationships/notesSlide" Target="/ppt/notesSlides/notesSlide4.xml" Id="R7b5f1bdda6af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188306214d26" /><Relationship Type="http://schemas.openxmlformats.org/officeDocument/2006/relationships/notesSlide" Target="/ppt/notesSlides/notesSlide5.xml" Id="R3ea2fec30f8246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b02c798ca4b93" /><Relationship Type="http://schemas.openxmlformats.org/officeDocument/2006/relationships/notesSlide" Target="/ppt/notesSlides/notesSlide6.xml" Id="Rf41439fbefa64e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440d36cb84b3a" /><Relationship Type="http://schemas.openxmlformats.org/officeDocument/2006/relationships/notesSlide" Target="/ppt/notesSlides/notesSlide7.xml" Id="R1da592ef74fe46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c4f02cddd46f4" /><Relationship Type="http://schemas.openxmlformats.org/officeDocument/2006/relationships/notesSlide" Target="/ppt/notesSlides/notesSlide8.xml" Id="R1d86f4caff1c47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6fb1612d64c85" /><Relationship Type="http://schemas.openxmlformats.org/officeDocument/2006/relationships/notesSlide" Target="/ppt/notesSlides/notesSlide9.xml" Id="R5886e7b79ecf49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598a7539840ab" /><Relationship Type="http://schemas.openxmlformats.org/officeDocument/2006/relationships/notesSlide" Target="/ppt/notesSlides/notesSlide10.xml" Id="R51b4af1111f14c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45211fd8f4b51" /><Relationship Type="http://schemas.openxmlformats.org/officeDocument/2006/relationships/notesSlide" Target="/ppt/notesSlides/notesSlide11.xml" Id="Ra2b85f39038245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ceb884ea9433a" /><Relationship Type="http://schemas.openxmlformats.org/officeDocument/2006/relationships/notesSlide" Target="/ppt/notesSlides/notesSlide12.xml" Id="Rd980744647ae4e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3957b94d24a8c" /><Relationship Type="http://schemas.openxmlformats.org/officeDocument/2006/relationships/notesSlide" Target="/ppt/notesSlides/notesSlide13.xml" Id="R18bbd8291c6842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d6c0facf14333" /><Relationship Type="http://schemas.openxmlformats.org/officeDocument/2006/relationships/notesSlide" Target="/ppt/notesSlides/notesSlide14.xml" Id="R98d091c5615a42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c67fe57664907" /><Relationship Type="http://schemas.openxmlformats.org/officeDocument/2006/relationships/notesSlide" Target="/ppt/notesSlides/notesSlide15.xml" Id="R19d0722ccd8d44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23208788a40e9" /><Relationship Type="http://schemas.openxmlformats.org/officeDocument/2006/relationships/notesSlide" Target="/ppt/notesSlides/notesSlide16.xml" Id="R5ba4ca6621e84d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2b1c15da64cfe" /><Relationship Type="http://schemas.openxmlformats.org/officeDocument/2006/relationships/notesSlide" Target="/ppt/notesSlides/notesSlide17.xml" Id="Rf1ec0f1da47e49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8ee5541094ec9" /><Relationship Type="http://schemas.openxmlformats.org/officeDocument/2006/relationships/notesSlide" Target="/ppt/notesSlides/notesSlide18.xml" Id="Re9c4422ae0ec42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cb133f3f422b" /><Relationship Type="http://schemas.openxmlformats.org/officeDocument/2006/relationships/notesSlide" Target="/ppt/notesSlides/notesSlide19.xml" Id="R6bf2f28bb75d48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8c02f69b04eaa" /><Relationship Type="http://schemas.openxmlformats.org/officeDocument/2006/relationships/notesSlide" Target="/ppt/notesSlides/notesSlide20.xml" Id="R00fc611e967f49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433a1384d45ce" /><Relationship Type="http://schemas.openxmlformats.org/officeDocument/2006/relationships/notesSlide" Target="/ppt/notesSlides/notesSlide21.xml" Id="R590278dda4d54e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1ada1b50b4abd" /><Relationship Type="http://schemas.openxmlformats.org/officeDocument/2006/relationships/notesSlide" Target="/ppt/notesSlides/notesSlide22.xml" Id="R0cb0a4f9598544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715fba5014070" /><Relationship Type="http://schemas.openxmlformats.org/officeDocument/2006/relationships/notesSlide" Target="/ppt/notesSlides/notesSlide23.xml" Id="Rf3126749e61b4b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1e4414dc449f0" /><Relationship Type="http://schemas.openxmlformats.org/officeDocument/2006/relationships/notesSlide" Target="/ppt/notesSlides/notesSlide24.xml" Id="Rd80fa8662e31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5DAA8-829E-4416-A46E-57060A5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9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 · SystemVerilog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6AAA8-9F16-4778-B60E-6A0463C5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45"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소개부터 실무 적용까지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ED2E-B7C1-41CA-AE16-83EA8E9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왜 필요한가 · 어떻게 구성하는가 · 어떻게 잘 사용하는가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49391-E8B0-4E9D-BFA5-8CA2608E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85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35276-A8DD-46F1-B9B2-3330F642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Why  /  Architecture  /  Workflow  /  Reuse  /  Debug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7A135-0776-47D9-B1BC-0BB35C6B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742950"/>
            <a:ext cx="23050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FD7BB-2EB5-4B42-81EC-72536D3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C09DA-7B40-4F11-9F80-17E7184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288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FAFD1-98B4-455A-8C70-4B4E170C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716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8DE84-A49A-4CA2-8FB3-44351F43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514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70794-49ED-4133-88E1-25628DA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2573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319BC-B32A-4CBD-97DD-B829BA0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1581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57550-4DCD-4BEB-846C-9CBE9398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structured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84F1F-C958-4FBD-A729-8E9F281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771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세 개의 기존 발표 자료 통합 · IEEE 1800-2023 · IEEE 1800.2-2020</a:t>
            </a:r>
          </a:p>
        </p:txBody>
      </p:sp>
    </p:spTree>
    <p:extLst>
      <p:ext uri="{BB962C8B-B14F-4D97-AF65-F5344CB8AC3E}">
        <p14:creationId xmlns:p14="http://schemas.microsoft.com/office/powerpoint/2010/main" val="145092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A14D1-BF4E-4DF4-A4DB-0D91967A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16CD8-C3DC-4272-AAA0-97CC4D15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검증의 목표는 많은 테스트가 아니라 ‘빠른 피드백’입니다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4DA9-AFED-416A-A51E-BC87DE1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15846-ED34-4853-9837-CBE60B46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C7383-6E46-4FFD-8E45-8A623F9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E19A1-853B-4CF2-9F57-2AF8D5AC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요구사항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5C90F-8AD7-42E2-8891-BD82FAE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검증할 동작·예외를 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09BC9-1AF5-454C-A3E3-7E228F8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38FFE-4041-407E-96B1-3615EEB8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23DCB-364A-4A44-AB94-198028F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자극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A4DA3-EA14-4D50-B227-E0FDCBBA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transaction과 timing을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A5BDF-3B5F-4D10-8F00-42FFC2A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C0E1D-7430-4CE3-96DC-21BCFF34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67D40-27FE-4D9F-9549-50065A2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1B898-171B-4DE9-977F-1385A3EA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DUT가 실제로 한 일을 복원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34229-13D0-4935-BE61-3398E375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68083-B483-4D24-B283-B50BB15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314C4-0AF6-4416-96C1-5C6A760F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예측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537B7-E533-4BF3-BEF8-CF91EE0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spec 기준 기대 결과를 계산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B042C-CF57-493D-A85B-E387D895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33423-F8D3-4CEE-A41C-D08509A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CF715-B5E6-4C23-8CAF-1D4265E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판정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FC1CF-A7C8-4C26-AF84-D2B4CE05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차이·누락·순서를 검출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D86C7-B469-4EF2-A98B-D8938A3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E66A6-AEEF-44D2-A7F2-8CF656F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5DD5B-CEC2-48A6-BFEA-0422F6DC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학습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A0768-C548-4F00-A9B9-B955DF0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검증하지 못한 공간을 피드백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D6096-3099-4DB4-A6BC-CBA97AE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338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00B6F-73A5-44A1-A561-77E2946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851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57B28-DB7C-41FE-8604-F71FEB7D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2A56E-1065-4102-919C-EE5E4C6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입력 생성 → 관찰 → 판정 → 빈틈 보완의 폐루프가 짧을수록 디버깅과 품질 판단이 빨라집니다.</a:t>
            </a:r>
          </a:p>
        </p:txBody>
      </p:sp>
    </p:spTree>
    <p:extLst>
      <p:ext uri="{BB962C8B-B14F-4D97-AF65-F5344CB8AC3E}">
        <p14:creationId xmlns:p14="http://schemas.microsoft.com/office/powerpoint/2010/main" val="1567629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FE412-3C69-42A8-90E8-4FA5A76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71443-C88E-41E0-9A3E-38AE714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SystemVerilog는 언어, UVM은 그 위의 검증 방법론입니다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30E4-C57D-4BE6-A4DD-75377C1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3F08-26AB-4A88-9574-08B90E7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83EF6-42DE-4040-BA6D-84593B85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7D03F-D902-4C71-9CA1-0071BC9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SystemVerilog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40FBB-71C3-433B-B138-FE413C9F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검증 기능을 포함한 하드웨어 언어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interface·class·random·SVA·coverage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신호·시간·데이터를 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736EE-E0E1-44DC-854D-E8D8B2B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6A7B-0466-4843-A960-A547442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4B33-9331-4A80-B04B-38995F1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SystemVerilog class 기반 방법론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component·phase·factory·TLM·RAL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환경을 일관되게 조립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296B2-792F-478B-9C43-BA479FCD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41F63-BAFF-43C0-8E9D-C03CF65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관계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993F2-6D29-41AA-A15E-6B2D3D7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SV가 재료와 실행 의미를 제공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UVM이 역할·연결·수명 규칙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UVM은 언어를 대체하지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51CF6-E9D8-4EE5-8481-78F34C2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SystemVerilog로 기능을 만들고, UVM으로 팀이 공유할 구조와 사용 규칙을 고정합니다.</a:t>
            </a:r>
          </a:p>
        </p:txBody>
      </p:sp>
    </p:spTree>
    <p:extLst>
      <p:ext uri="{BB962C8B-B14F-4D97-AF65-F5344CB8AC3E}">
        <p14:creationId xmlns:p14="http://schemas.microsoft.com/office/powerpoint/2010/main" val="60755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A14D1-BF4E-4DF4-A4DB-0D91967A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16CD8-C3DC-4272-AAA0-97CC4D15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왜 사용하는가: 복잡도가 커질수록 여섯 가지가 필요합니다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4DA9-AFED-416A-A51E-BC87DE1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15846-ED34-4853-9837-CBE60B46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C7383-6E46-4FFD-8E45-8A623F9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E19A1-853B-4CF2-9F57-2AF8D5AC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재현성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5C90F-8AD7-42E2-8891-BD82FAE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같은 test·seed로 실패를 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09BC9-1AF5-454C-A3E3-7E228F8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38FFE-4041-407E-96B1-3615EEB8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23DCB-364A-4A44-AB94-198028F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재사용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A4DA3-EA14-4D50-B227-E0FDCBBA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driver·monitor·checker를 재활용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A5BDF-3B5F-4D10-8F00-42FFC2A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C0E1D-7430-4CE3-96DC-21BCFF34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67D40-27FE-4D9F-9549-50065A2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가시성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1B898-171B-4DE9-977F-1385A3EA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transaction 수준으로 관찰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34229-13D0-4935-BE61-3398E375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68083-B483-4D24-B283-B50BB15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314C4-0AF6-4416-96C1-5C6A760F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독립성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537B7-E533-4BF3-BEF8-CF91EE0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예측과 관측 경로를 분리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B042C-CF57-493D-A85B-E387D895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33423-F8D3-4CEE-A41C-D08509A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CF715-B5E6-4C23-8CAF-1D4265E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판정력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FC1CF-A7C8-4C26-AF84-D2B4CE05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차이·누락·순서를 명시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D86C7-B469-4EF2-A98B-D8938A3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E66A6-AEEF-44D2-A7F2-8CF656F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5DD5B-CEC2-48A6-BFEA-0422F6DC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A0768-C548-4F00-A9B9-B955DF0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요구사항의 빈틈을 추적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D6096-3099-4DB4-A6BC-CBA97AE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338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00B6F-73A5-44A1-A561-77E2946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851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57B28-DB7C-41FE-8604-F71FEB7D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2A56E-1065-4102-919C-EE5E4C6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Directed test의 개수보다, 변경에도 유지되는 구조와 재현 가능한 증거가 프로젝트 비용을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567629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D521E3-999F-4238-AB90-1BA8F8F0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A733-6FCE-42D2-A4BB-17BEB967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전체 구조: control path와 observed data path를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3488D-310E-4975-B898-1C7F88C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7DA4-BF69-46F2-BB98-7BE3DC1F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A9B37-1005-4385-8899-872E681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0668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EBFB3-0C49-4221-A096-4B82A58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86640-9654-4DD8-83DE-1E64E73C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2C479-1C2F-4253-BFC5-DAC12CD1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2ACD3-A618-465F-BC8B-CD6D2BE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61B0D-B0F7-4BDA-8E71-906E02B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0BA29-C96A-4CBB-AC1F-BD1B8AD3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5E765-B23B-43CE-B8D0-33889933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A8E77-6721-472E-A11F-3D7FB965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018F5-0CD6-4F2E-817A-DEB6C974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D5CCE-A5BF-4A39-954B-885EDC5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C08DF-9F60-4F29-8BC9-9ABF87D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9007F-F5D0-47EF-BDAB-962D4FF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sequencer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9DD50-8B95-4C7F-8B71-98DAD44C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8056E-9453-4C1B-946B-23E6828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7402C-9A34-4000-80E3-8D640B29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6A7DA-EB77-4B37-B50F-C3AAF6A2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4097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DF252-6445-45E1-8740-EE74EED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OBSERVED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A4E15-BB4F-49D9-991A-D3956F33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F3703-A2FA-4301-93D8-FC24C56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B86CF-63F2-4989-93E4-E992CD7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26711-D70C-4473-AE66-6BF115F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98B5C-1538-4ECD-A036-5502CFE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predictor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0DDF2-66B7-497A-9654-4FF7D74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2ADC2-63B9-4733-AF71-543CC65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B81C0E-F7AB-421F-B88E-5EF01EE3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scoreboard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67166D-651C-424F-BAD8-C544821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1C3323-14BA-4A95-9D7F-213E437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4B451-9F51-4A5B-BB5A-A9F55CB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4EC90-0361-4B51-A74D-814DA62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자극 경로와 관찰 경로를 분리하면 DUT와 testbench가 같은 오류를 공유할 가능성을 줄일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61102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FE412-3C69-42A8-90E8-4FA5A76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71443-C88E-41E0-9A3E-38AE714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SystemVerilog 검증 도구를 세 묶음으로 이해합니다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30E4-C57D-4BE6-A4DD-75377C1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3F08-26AB-4A88-9574-08B90E7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83EF6-42DE-4040-BA6D-84593B85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7D03F-D902-4C71-9CA1-0071BC9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구조화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40FBB-71C3-433B-B138-FE413C9F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interface·modport·clocking block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class·상속·다형성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핀과 transaction의 경계를 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736EE-E0E1-44DC-854D-E8D8B2B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6A7B-0466-4843-A960-A547442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탐색·동시성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4B33-9331-4A80-B04B-38995F1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constrained random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process·mailbox·semaphore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scenario와 병렬 동작을 표현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296B2-792F-478B-9C43-BA479FCD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41F63-BAFF-43C0-8E9D-C03CF65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판정·측정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993F2-6D29-41AA-A15E-6B2D3D7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SVA·functional coverage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4-state type·queue·associative array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규칙과 실행 범위를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51CF6-E9D8-4EE5-8481-78F34C2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문법을 외우기보다 ‘연결·생성·관찰·판정’에 어떤 기능을 쓸지 선택하는 것이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60755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38C51-4A64-48E0-9A9E-3FE1656C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759FB-10D4-4DE4-83DA-423376F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clocking block으로 sampling과 driving 시점을 계약합니다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2529B-0CA6-4A2B-BEA4-450C31E1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C2D42-DE0C-4324-B121-8FB35E3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0C37F-01DD-4F9C-A991-0708B5F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98D5E-5B4C-4C1C-856F-78AFE40B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Preponed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E007F-1F17-4175-A5FA-53266D3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assertion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83E98-54D5-4C7D-A1FC-B0ADB85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03113-2D76-4EE7-8C85-448FF921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AAA22-2538-4BF4-8AC1-9890D305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5B9C9-60B2-4CF3-BF00-587C803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blocking / RTL 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07214-F31D-4D66-8792-5651C4FC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E70DC-A5BA-402E-9CC5-249D819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2A9E8-FEBB-474C-AC0B-451EAD86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NBA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3AF6B-64EB-473D-8549-C584CC9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nonblocking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A3DC6-901D-4DE1-975D-75DF0A7C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E40ED-F2CA-4B1D-AF73-B64FE45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CC04E-C12E-4F55-81A0-08C290CE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Observed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0A4D8-EA50-41BD-9847-3DD8A71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property 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B2AA5-225E-4EFB-B92A-53D7359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88E44-1766-4D38-8838-327C1A0A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E98A4-960F-4E32-8044-4B740959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3A8A7-DF10-424F-86C0-B3DCB18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program/TB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98414-F3FF-441C-A420-71E8003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6191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3708C-97A9-45AB-9033-4E664588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810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clocking cb @(posedge clk);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default input #1step output #0;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input ready, data;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output valid;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endclocking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@(vif.cb); vif.cb.valid &lt;= req.valid;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E6024-9F15-456B-80C8-836FAAE8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왜 필요한가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151FC-CB29-453F-936E-8D14E9B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638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DUT와 TB가 같은 edge를 다룹니다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raw @(posedge clk)는 race 가능성이 있습니다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monitor와 SVA의 관찰 시점을 통일합니다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#0 timing hack 대신 명시적 계약을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1157598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134D8-CCCA-4498-8494-ED92C3D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88FF9-CEE3-4C1C-AE40-0D699AE2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Transaction은 핀 변화를 의미 있는 ‘한 건의 요청’으로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EC11E-0E30-4631-8ECC-87FDBD08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9F802-F3FE-46EA-A32F-0128D190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1AF4D-A60C-41BE-BB1B-17864C49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12192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B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35B1-E40D-44E1-8F7E-33EDE95D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HANDLE COPY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3228D-3B5E-41A7-927E-2F69C55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00E2B-B3D0-4AC8-BDAD-FE07FC76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a = b;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389EB-F98F-4ECC-A132-DDA880CC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같은 객체를 가리킴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consumer mutation이 모두에 보임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86315-E118-4CA5-B03B-8104B37C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F9A7A-F0E0-4645-997B-54EDC529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28800"/>
            <a:ext cx="12573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7D3DD-3E7C-4A2E-B7B1-096A9EE8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1257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OBJECT 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3F108-652A-4747-8BBA-775933F7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8F8A2-B5A2-45DB-B0F8-CDA2919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$cast(a, b.clone());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C97C1-081B-488D-BB3F-851A681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05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새 객체로 복사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보관·비동기 처리에 안전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33CBE-948E-40C5-855A-F9A5748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38862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66655-53A5-4EFE-8863-2FF8108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Analysis path 계약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5822B-8C96-4651-8F82-8B702757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3467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monitor는 transaction마다 새 객체 생성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analysis subscriber는 publish 객체 수정 금지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보관이 필요하면 clone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ID·timestamp·reset epoch를 함께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455B1-3F51-46A7-9BE1-BA05E000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transaction을 공통 언어로 쓰면 sequence·monitor·scoreboard·coverage가 같은 의미 단위로 협업합니다.</a:t>
            </a:r>
          </a:p>
        </p:txBody>
      </p:sp>
    </p:spTree>
    <p:extLst>
      <p:ext uri="{BB962C8B-B14F-4D97-AF65-F5344CB8AC3E}">
        <p14:creationId xmlns:p14="http://schemas.microsoft.com/office/powerpoint/2010/main" val="1576340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0D430-9471-420F-838E-35658A8A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B1F69-AD89-4E76-91D3-0E60CCF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Constrained random은 합법 공간을 넓고 재현 가능하게 탐색합니다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9AABF-BE98-46B6-814A-0ED3ECD2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4644A-CE9F-4837-8259-B1097B7A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9B682-EBF7-4161-B647-E0C72E7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60388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9FDF1-145C-4AD6-A739-0C7040E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6578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class req extends uvm_sequence_item;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bit [15:0] addr;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int unsigned len;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soft constraint c_len { len inside {[1:16]}; }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constraint c_order { solve len before addr; }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constraint c_addr  { addr % len == 0; }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endclass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assert(req.randomize() with { len dist {1 := 5, [2:8] :/ 5}; });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42B31-C0A0-4515-8D67-184977C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우선순위와 의미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E8089-64CE-4B51-A965-B9A8A54F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hard constraint  — 항상 만족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soft constraint  — test가 덮는 기본값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inline constraint — scenario의 국소 의도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solve before      — 해 집합이 아니라 분포 영향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:= / :/            — bin별 가중치 의미가 다름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5B9EB-1261-4903-904B-C5452C81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randomize() 반환값을 반드시 확인하고, 실패 시 constraint mode → 최소 충돌 → seed 재현 순으로 추적합니다.</a:t>
            </a:r>
          </a:p>
        </p:txBody>
      </p:sp>
    </p:spTree>
    <p:extLst>
      <p:ext uri="{BB962C8B-B14F-4D97-AF65-F5344CB8AC3E}">
        <p14:creationId xmlns:p14="http://schemas.microsoft.com/office/powerpoint/2010/main" val="1090242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E1A46-241E-44B2-858D-0E7FF064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A107E-8B40-4025-9C92-30CAD9C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SVA는 ‘언제 무엇이 지켜져야 하는가’를 실행 가능한 규칙으로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8D7D9-171B-4793-9051-9D2071E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A7BE8-7AC5-4FF5-BE3E-A4B5DA10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53553-901E-4211-AD2C-362A756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61912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CBFB2-1212-44AF-98FB-4801A0B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8102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property p_stable_until_ready;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@(posedge clk) disable iff (!rst_n)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valid &amp;&amp; !ready |=&gt; valid &amp;&amp; $stable(data);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endproperty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a_stable: assert property (p_stable_until_ready)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else $error("data changed while stalled");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c_stall: cover property (@(posedge clk) valid &amp;&amp; !ready);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DC70A-959F-4BB2-A69E-DBE1780C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읽을 때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8668E-8EF7-419C-9A48-B8A12BF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3714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|-&gt;  같은 cycle부터 consequent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|=&gt;  다음 cycle부터 consequent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disable iff  비동기 abort 의미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$past  history 유효성·reset 고려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X/Z  4-state 비교 의미 검토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cover property  antecedent 도달성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8DC93-A959-4883-B3AE-E38D5D11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243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규칙 위반은 assertion이 판정하고, cover property로 antecedent가 실제 도달했는지도 함께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32553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4672A-593C-415C-BC62-A5D54D2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013AB-2738-4474-A72D-081FCEB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Functional coverage는 요구사항을 ‘측정 가능한 상태 공간’으로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223E1-CE1E-476D-A29F-2D50C47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291A6-0654-42D1-B0D4-A351C65A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2E6E7-A2A8-47E5-8782-DA51999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61150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3FD36-8FBA-489E-88B8-AD05B4C6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7340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covergroup cg with function sample(pkt t);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cp_op  : coverpoint t.op;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cp_len : coverpoint t.len {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bins short = {[1:4]};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bins long  = {[5:16]};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x_op_len : cross cp_op, cp_len;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accepted + checked transaction에서 정확히 한 번 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FBEFA-7B08-4735-9F7D-E5784E1E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979B6-B3D8-4A8D-8AA3-C28904B1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1452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92BF7-FFAF-47E9-BF78-085307E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66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C02AC-6F0E-4BD9-B9FE-A4E1A1D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기능·조건·예외를 문장으로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D0880-C593-420D-8322-3E96049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AB982-198C-4A06-BE31-035BC9CE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574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B61B7-CB1B-407D-8A3B-D76CF42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Sample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124EA-B6D3-4C29-9B13-942A5F9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valid/accepted/checked 중 의미 있는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CFE87-2056-4BD6-BEF3-B5783EA6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BA196-F054-4F32-B1B8-470F26A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042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E3850-8593-494B-912D-6DF60A4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Bins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B0CE6-CA54-4B33-AB1D-48A32D6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명시적 의미와 stable naming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D75CE-A645-4090-B2EB-3B9E6E11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88B66-58DB-4142-A846-7C40E97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883B8-6313-48E0-93BD-68FF0FC5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Cross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33E3C-039C-4897-AFD1-12C03DD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의미 있는 상호작용만 제한적으로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B82F1-1F3E-46BC-8153-0B541A06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coverage는 실행 여부를 측정합니다. 옳고 그름의 판정은 assertion과 scoreboard가 담당합니다.</a:t>
            </a:r>
          </a:p>
        </p:txBody>
      </p:sp>
    </p:spTree>
    <p:extLst>
      <p:ext uri="{BB962C8B-B14F-4D97-AF65-F5344CB8AC3E}">
        <p14:creationId xmlns:p14="http://schemas.microsoft.com/office/powerpoint/2010/main" val="378835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D521E3-999F-4238-AB90-1BA8F8F0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A733-6FCE-42D2-A4BB-17BEB967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 topology는 역할 분리를 코드 구조로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3488D-310E-4975-B898-1C7F88C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7DA4-BF69-46F2-BB98-7BE3DC1F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A9B37-1005-4385-8899-872E681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0668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EBFB3-0C49-4221-A096-4B82A58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COMPONENT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86640-9654-4DD8-83DE-1E64E73C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2C479-1C2F-4253-BFC5-DAC12CD1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2ACD3-A618-465F-BC8B-CD6D2BE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61B0D-B0F7-4BDA-8E71-906E02B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0BA29-C96A-4CBB-AC1F-BD1B8AD3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5E765-B23B-43CE-B8D0-33889933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A8E77-6721-472E-A11F-3D7FB965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018F5-0CD6-4F2E-817A-DEB6C974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D5CCE-A5BF-4A39-954B-885EDC5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C08DF-9F60-4F29-8BC9-9ABF87D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9007F-F5D0-47EF-BDAB-962D4FF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sequencer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9DD50-8B95-4C7F-8B71-98DAD44C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8056E-9453-4C1B-946B-23E6828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7402C-9A34-4000-80E3-8D640B29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6A7DA-EB77-4B37-B50F-C3AAF6A2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4097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DF252-6445-45E1-8740-EE74EED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CHECKING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A4E15-BB4F-49D9-991A-D3956F33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F3703-A2FA-4301-93D8-FC24C56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B86CF-63F2-4989-93E4-E992CD7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26711-D70C-4473-AE66-6BF115F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98B5C-1538-4ECD-A036-5502CFE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predictor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0DDF2-66B7-497A-9654-4FF7D74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2ADC2-63B9-4733-AF71-543CC65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B81C0E-F7AB-421F-B88E-5EF01EE3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scoreboard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67166D-651C-424F-BAD8-C544821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1C3323-14BA-4A95-9D7F-213E437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4B451-9F51-4A5B-BB5A-A9F55CB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4EC90-0361-4B51-A74D-814DA62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test는 정책을 선택하고, agent는 protocol을 다루며, checker는 관찰된 데이터를 기준으로 판정합니다.</a:t>
            </a:r>
          </a:p>
        </p:txBody>
      </p:sp>
    </p:spTree>
    <p:extLst>
      <p:ext uri="{BB962C8B-B14F-4D97-AF65-F5344CB8AC3E}">
        <p14:creationId xmlns:p14="http://schemas.microsoft.com/office/powerpoint/2010/main" val="3611024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69C64F-6991-4190-B677-8240F645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AFD1-A52F-49D1-9CC6-A1B42383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 phase는 생성·연결·실행·정리의 공통 생명주기입니다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EB94D-3A2A-4E0F-813B-BB44507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632EC-CA49-4E44-B3AD-B3E44AF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71052-0039-40C8-946B-B9481EC4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4F9AB-F908-4725-81D9-FE8A0AA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5654B-77BD-472D-8427-3B42096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get cfg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D83A0-855E-4650-AFFC-A17C068C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ECF10-721D-4C39-A73D-D029B8E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02F79-06C9-42CA-A1BD-167323F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FA982-7AA6-4405-AB54-8908A60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TLM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48988-ABD8-4085-83BE-2108A91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108CD-7423-4805-A053-A8DE568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EF68D-785C-4AEE-A142-246263AE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end_of_elab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55F61-C2AA-43FC-9ABC-1B9BCF6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topology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F4CD8-0DD6-44E4-852A-C80876F6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E0B17-BA9B-4B73-AC90-7EC9ECC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7A1CF-CAB0-4558-9AF1-6A4A7F5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start_sim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4FB53-3B9C-4AF3-86C2-19A4B2A2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final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setup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836F2-394C-46C3-B73B-B643B40D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79FDD-BEB4-434B-91CE-521297B2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40DEB-E2FB-491C-9325-6B6BFE4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DE4DD-D3CD-4C5E-9534-8CE6B46E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timed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3F925-E812-4E2A-B488-9042C8D5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74A28-85AE-48D1-91C2-81F02B0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9660A-D464-4E1F-AA27-53E219A2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extract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04ABB-E7AD-4BA8-8BE7-8013BBD5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collect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residue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8B5E8-4270-4A18-B600-253A7D4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79A18-63B0-4A31-993E-01EDC56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9F42A-5E08-49BC-BF2C-750B50BE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719C2-99E5-47E0-8A24-8B87DA4F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final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invariants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C99C4-82D6-478F-A03E-ABE1388B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0E3AF7-8E6C-48B3-B1E2-483275B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8DA69-C2A7-49DF-B837-06E56C11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8DD33F-1D77-4D50-977F-BDEA97C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result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4F8EC-D14F-40F0-AAE5-7CDE8D5F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Top-down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9AA2F5-F4D6-4B2D-B309-861E7307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8DB6D9-1245-4FC2-AA08-7CF25D49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24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Bottom-up / validation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178277-8570-4B1C-81E7-62D4FDE2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1F09B2-2332-4430-9E3F-1BCD32B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24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7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77500"/>
                </a:solidFill>
                <a:latin typeface="Apple SD Gothic Neo"/>
                <a:ea typeface="Apple SD Gothic Neo"/>
                <a:cs typeface="Apple SD Gothic Neo"/>
              </a:rPr>
              <a:t>Time-consuming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10F80F-42E4-4FCF-98AA-C77DE429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build/connect에서 구조를 확정하고, run에서 시간을 쓰며, check/report에서 미처리 데이터와 결과를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806003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B6AEE-B180-48FB-82A9-A2DF68A2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D8B6B-2A75-4B4E-88F8-204E204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Test는 정책을 선택하고, Agent/UVC는 protocol 메커니즘을 제공합니다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A638A-432D-4D7F-8E79-BE71786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1AC2-57DA-427E-A4D2-A20B728E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97D50-AC16-4004-80B7-0332A793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CD3EF-812A-4766-9ABE-A4122291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Passive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4C85D-0DA8-4BCF-BD0F-F9A87F5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933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monitor는 항상 생성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analysis port로 관측값 공개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protocol checker / coverage는 옵션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DUT hierarchy를 내부에 넣지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AF39-707D-47D3-BC50-16CEBB5E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4E7FE-64DA-44DE-B224-52D5F70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574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Active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2E1B4-CCD5-4202-ACEE-FFA89D2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933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passive 구성 + driver + sequencer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is_active는 typed cfg가 소유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동일 monitor로 checking 일관성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B18B5-1650-4CB6-838B-98FF9620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FB798-E402-434F-AAC9-41C2E3DD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574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상위가 주입할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6DB5A-9C87-4CDF-8928-BBC494A5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2933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virtual interface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address / timing policy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feature enable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error injection / compare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1A025-663E-4479-A21D-C72DD993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재사용의 기준: 다른 DUT에서 UVC 코드를 고치지 않고 config·interface·연결만 바꿀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794842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AF822-6432-4146-B074-50C930D7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FB6C7-2531-4B82-9765-2AA493A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Factory와 config_db로 같은 구조를 다른 상황에 재사용합니다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BDBC9-4B2E-42CE-9F4D-70734DEA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D7A2C-FE94-4202-AB83-B3C7D45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7F0AD-CF9E-4F6D-9CF5-720A4E81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9245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A6DDB-3D57-4A48-AFD7-148C28F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543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구현 타입 교체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base_driver::type_id::set_type_override(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err_driver::get_type());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의존성 전달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uvm_config_db#(agent_cfg)::set(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this, "env.a0", "cfg", cfg);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6EFFD-0E9F-47CC-A7F4-29465B52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3752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12E2D-0171-40BE-AD39-C6784DAE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Factory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7F79F-DEFF-4CD4-9E8E-8D08217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구현 타입을 test에서 교체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create로 생성 지점을 통일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B7F43-924E-46F4-BA34-13BFD9C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3752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4A702-0204-44E7-8167-C50D2B17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config_db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C0358-E17A-4DAA-874F-D2F4035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virtual interface·policy 전달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typed config + 좁은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FB85A-2849-4A2F-AB82-3EF1ABF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Factory는 ‘무엇을 생성할지’, config_db는 ‘어떤 값과 의존성을 줄지’를 담당합니다.</a:t>
            </a:r>
          </a:p>
        </p:txBody>
      </p:sp>
    </p:spTree>
    <p:extLst>
      <p:ext uri="{BB962C8B-B14F-4D97-AF65-F5344CB8AC3E}">
        <p14:creationId xmlns:p14="http://schemas.microsoft.com/office/powerpoint/2010/main" val="18339578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A8946-85B2-443D-BFDE-386D4606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DFD68-7D00-465C-8A3C-123D89BB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Sequence–Driver handshake로 요청과 핀 구동을 동기화합니다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4F216-F3CA-4DBA-84A3-379CCA46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7AA71-571E-46A3-BA6B-76647C5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3145B-46FF-44B8-BA04-64FB9FE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5621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E86F1-53F9-4279-AFB3-0E3136E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152BA-B044-4FB4-8B54-B6D93AFE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526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BEC8E-2EB3-4691-8366-5469636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15621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8090B-E766-4137-982C-E187497C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sequencer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0674-7B36-4D75-A028-5B9ED198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4C605-91C4-431A-9624-DC061A4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15621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A0DA0-3E25-41BB-9FE9-B402F4F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0225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2DA5F-C79E-46D2-9B27-D08A7CE9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A8503-C675-4384-BC78-DB44812C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288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84FBD-DE07-4129-AFC3-821C41A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574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747A0-602E-4B3F-BEFD-5F00974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812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start_item(req)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6CB08-015F-476B-B595-555F1723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708F1-000E-4256-9E26-967372A6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7DC38-7557-4D68-9789-B1F982F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randomize + finish_item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09F9E-C17F-4278-84D1-6EE9A8B6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CFA81-02EE-43FE-88CB-C085C99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051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EA941-C5A5-4011-908D-118B38D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289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get_next_item(req)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862F4-9638-49D6-8F59-AE703F71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9EA46-8D74-4EC2-8B5A-FDF6434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534A2-3DF3-4055-8320-8579D4C1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grant / request 전달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F07CF-BBF1-407A-B3F4-948D9084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82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A3FFA-8DA2-40D8-82CA-D7EF1B28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76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7F833-6E49-4A66-856C-8D1C283E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00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item_done(rsp)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084C4-62C1-4EEC-89A1-E01B8C2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24350"/>
            <a:ext cx="1314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DC617-91DC-4D58-850C-E4B812A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481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drive protocol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2D6DA-1D19-4BFF-B5E9-AD322E0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start_item/finish_item과 get_next_item/item_done의 blocking 지점을 이해하고, response에는 request ID를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18337659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01E67-B3E6-4645-A5E2-7A20A67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A1CE2-3F18-4FDB-B473-F81C03E1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 → TLM → Scoreboard가 관찰에서 판정까지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2988A-656B-498C-A5D2-8DBBD31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E1956-745F-4FE2-B2AD-3614133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B4905-93C2-4E50-8D5A-2D18BBF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60224-9F63-4417-A9F3-95DC43C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5E40F-D095-4F42-8112-E6C063D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analysis_port.write(tx)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400BE-8E0D-448B-B710-E3B020AD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2324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A8EEA-57EE-4883-9D17-1BAE845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scoreboard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E2B42-1A7E-4895-B35E-340D3AF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51992-B5D3-472D-B958-A7FD02F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9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448C7-7634-4409-9F6B-6998E07B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288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FCEB0-2ACE-4EB5-B4A1-A2316834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2324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D7DD2-86CF-49CA-B0AC-6CA4C3DB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6EE16-1917-4C85-B8F6-B676ADD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D1747-4FE6-4A35-9CFE-DD3279EF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E5037-EE15-4ED3-B950-F817E161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623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6E4C4-092C-4988-8453-47CBD92E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324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2A729-8024-4AF0-BF54-1DA6ED59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24400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recorder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A99D5-4F3B-4613-9512-92932FD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80265-A9DA-40D4-84D3-D941F282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190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F1F65-8EFD-47B4-8268-9C00118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958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CC80F-6D7E-47F7-9AC0-9D856BB7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36385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60035-F66C-46BD-8E36-29D64AD3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574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역할 분리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A30F7-E494-4D7C-AA5F-41D96F3B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32194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monitor: 핀을 transaction으로 복원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analysis: 여러 consumer로 fan-out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scoreboard: expected/actual 매칭·비교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coverage: 요구사항 실행 여부 측정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느린 처리는 FIFO worker로 분리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9F524-5E92-46F1-8AD7-32338F34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Monitor의 관측값을 신뢰의 기준으로 삼고, analysis write()에서는 block하지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0338219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748F04-E475-44C4-96D7-B9406BBA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947A3-2368-4162-9AC1-8ACDA874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RAL은 레지스터 접근·예측·mirror를 한 모델로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27E43-C18F-4D62-879B-14288FE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F8A3B-06BE-411A-A9CF-36C57B0E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6D2A6-4CC9-4739-8140-5FC496A0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FC3F-75FD-4B4F-B5C2-A81EDC7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reg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84A4B-AE4B-49B4-BC84-2A5F1628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read/write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3FECB-A7E1-4238-A684-54E0B084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EDC4B-3A8F-4A5F-9FD9-A354591A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4D571-0A7F-4516-A107-654B62D4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D7842-AB6B-471D-BCCF-CD51DEF2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reg ↔ bus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11680-4544-4E3E-BDC2-44D5E97B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2A352-0C3B-410A-90AE-B97563C6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96986-60DA-46FA-99C8-77643340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bus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F7F94-A678-4646-9795-A0C351F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frontdoor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0F39B-9210-4F3A-B321-CE20523D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8DAE1-063C-4F62-868B-E9C5D05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41DBD-7F7D-4F44-B0CD-BDAFEF3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BFF86-CB6C-4C31-A7DB-387CF3BB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observed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6B1F7-FAE8-44DE-B8EF-8BB1F900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173F4-C3E0-4AD2-95DD-CCCB92A7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F98E0-FAF6-4344-9AC8-3ECD8952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predictor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19150-1E76-4F66-912C-9D55D93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predict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05C97-8D3B-439E-A470-F8746BAC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6DBD2-595A-43BA-9E93-66D69138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9FEAD-75EF-44B8-872A-761C1BE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mirror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999FE-EDD4-42F9-A558-93420DE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model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36B6E-D04B-44B1-BCA1-BAB91FD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6FD6B-74F5-4359-BF84-534D9D40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get / 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6FCDE-1D61-4C95-A95F-C816C83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195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desired·mirror 값을 모델에서 조회/변경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8B700-0CF8-4DCB-B75D-80B1BE4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4D25E-1C64-4722-A13B-5EA7C69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read / write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4A385-AE3D-4274-B4C6-676C2FF4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frontdoor 또는 backdoor로 DUT 접근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C77817-3B38-4890-BB12-5FBC91F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6838D5-0750-498B-B6D7-CC78D9DD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mirror / update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7C975D-011E-4F8A-9648-087B3C2F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DUT와 model 동기화 및 비교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86E49B-A323-43BD-9B38-206B700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9ED499-283B-4387-844C-DB8974E1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peek / poke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8CAFE5-3396-4CA5-A2A1-693A01B4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97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backdoor raw 접근; protocol side effect를 우회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9F3312-B6FC-4182-929B-15C818D4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frontdoor/backdoor와 prediction 전략을 일관되게 선택하고, volatile·W1C·read-clear 동작을 별도로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2499011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00962-1F91-41D5-B7D2-034389F1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D0FB-859A-49B0-967F-D3C817E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끝나는 조건까지 설계해야 테스트 결과를 신뢰할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D057C-EE0C-44A8-8CFC-87DCB66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B2D22-1422-423B-9589-3B3B4FD8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ED562-D9FE-46FB-B506-58322C0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5772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53C20-A628-4190-AAE9-BF5EB1E0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3911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task run_phase(uvm_phase phase);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phase.raise_objection(this, "scenario");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vseq.start(env.vseqr);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wait (env.sb.outstanding() == 0);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phase.drop_objection(this, "checked and drained");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F99E3-9150-49E6-A4E5-E0D3A0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3905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D4EEC-9086-4817-ADBD-9E99ED7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완료 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19965-F4F5-473C-83B0-D9C640A6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3486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4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test 또는 최상위 virtual sequence가 소유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monitor/driver는 완료를 보고할 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stimulus done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+ scoreboard empty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+ outstanding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+ watchdog not expired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E099B-3FFA-488A-B8D1-A810F32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고정 drain time보다 관측 가능한 상태와 watchdog으로 종료를 증명합니다.</a:t>
            </a:r>
          </a:p>
        </p:txBody>
      </p:sp>
    </p:spTree>
    <p:extLst>
      <p:ext uri="{BB962C8B-B14F-4D97-AF65-F5344CB8AC3E}">
        <p14:creationId xmlns:p14="http://schemas.microsoft.com/office/powerpoint/2010/main" val="4984140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B18D45-EB53-4D50-9A1D-E260506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18A1E-05BC-409E-B232-B4E803D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실무 도입: 작은 vertical slice부터 닫힌 루프를 완성합니다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9946-673F-49A7-82BA-9671DE7C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6E47C-638B-4B3B-9A86-9DF94E6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D9795-1D78-4914-B122-8C9B3B5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DD0FC-BAB5-4066-B7C5-05C3CF8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59354-D64B-4FB3-9529-D7D1A19D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FD364-981D-47D5-96B6-8E42F36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3EF21-6657-4FB6-94A6-2F98118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7EC74-9534-4BE3-BC86-8076163F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07C8C-E4E4-483B-B265-8023F7C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A0FA7-4A53-4E75-AB4C-BF96B77B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C33D8-1CD0-4836-A3AC-B68778DA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69C63-87BB-41EA-B600-93595782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F7D3D-520B-4EBD-993B-CCA07E9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Checker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8EF94-ED98-4412-8F6F-F181220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26668-F609-486B-857B-8D8B40F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B0F69-8D21-4181-8405-06BF646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7A640-F7F8-4576-B7F9-4E224757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5FA61-B375-49A7-8A28-281DE533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2DA1A-0DEF-4CE9-ACB9-2FB8922A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Regression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4E5D7-981D-4D83-B6C9-DA78BA19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22685-B21A-4757-A5AA-5E280E1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1. 하나의 기능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622F7-2DA4-46AB-8B0E-6F5E4A90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요구사항·transaction·관찰 포인트를 명확히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4EB5B-8F22-4269-8C63-FA83A565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6EB7D-7D25-43A5-BEF1-66653DE0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2. 끝까지 연결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B545C-2A96-4EBC-B279-6BC1F9CA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7670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sequence → driver → monitor → scoreboard를 먼저 완주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4D35C-6003-4D97-A76E-71DA4894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22B34-B6DD-4E87-A3CA-4F37454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3. 증거 추가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9CA5B-E663-450C-95D3-A5AE7FB3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4345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SVA와 coverage로 규칙과 빈틈을 기록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28BBE0-0740-4F0D-875E-1A8F0EB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DC0B77-2F80-46F2-B062-9030D7ED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4. 재사용 확장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20C13E-9A1B-4B76-9375-0994364B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1020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config·factory·RAL·virtual sequence는 필요가 생길 때 추가</a:t>
            </a:r>
          </a:p>
        </p:txBody>
      </p:sp>
    </p:spTree>
    <p:extLst>
      <p:ext uri="{BB962C8B-B14F-4D97-AF65-F5344CB8AC3E}">
        <p14:creationId xmlns:p14="http://schemas.microsoft.com/office/powerpoint/2010/main" val="11176923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809C4-1682-44C4-921D-3C535CDD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4A5E-9F91-492C-9E6A-127599B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잘 사용하는 원칙: 책임과 데이터 소유권을 명확히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C26E0-706F-4FF1-834D-12CB40C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25A2D-01B5-44F6-A139-4D3201D2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D2750-53D8-4ADB-9089-9225E1D0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피할 패턴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D8E56-59C1-4202-A9AF-6A746ED2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권장 방식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F0A13-EB39-4588-B6BD-B018F5DA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09A87-FF24-4237-B090-000D615A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test가 DUT pin 직접 구동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95E21-34B7-4968-A65D-2E0761EA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1455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sequence + driver 경계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9A4E0-32E2-4F99-8A6E-2C64FCD8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43175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C92EC-34E0-4EBF-A812-A57547E5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전역 wildcard 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264D4-5189-42F2-A3A7-04FF3AD8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76525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typed config + 좁은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E659D-4980-4FAF-9FEA-C32470C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AEDA2-C89E-478F-B171-C088F38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driver 기반 expected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F42CA-3C80-4D1D-9753-ABA7FA6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3850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독립 predictor + monitor actual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056BE-E403-48CE-B8C6-8AD6C41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9FA72-2B8C-4FFE-B3ED-523C519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공유 mutable transaction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AD086-5F66-44EE-B1E8-4EEAF2F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00475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fresh object 또는 clone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F3A40-6BE7-4ECF-86CF-B1119AA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0BDA2-F57B-4632-8A7F-E0BF3F04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scoreboard write()에서 block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7C251-57A7-4FE4-9BA0-56BBEB2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FIFO + 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500BA-3475-4257-ADED-56672C1F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91075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C402F-F7BE-4857-A8ED-9A55DC2C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objection 남발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34BDD-12F7-440F-B6E5-B4D6BC34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24425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top-level completion 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D3614-782E-4EC4-80B8-4A1588A9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DDFEE-D4F1-49E1-AAD6-62AA19DF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randomize 실패 무시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97754-F55E-40D1-BF33-99CAFF9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8640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assert/fatal + 최소 충돌 분석</a:t>
            </a:r>
          </a:p>
        </p:txBody>
      </p:sp>
    </p:spTree>
    <p:extLst>
      <p:ext uri="{BB962C8B-B14F-4D97-AF65-F5344CB8AC3E}">
        <p14:creationId xmlns:p14="http://schemas.microsoft.com/office/powerpoint/2010/main" val="20346780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A1A16-8D65-4528-AEA6-8EB48096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9E2D7-4707-4D5D-AE7A-75D848FA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디버그와 성능: 재현 → 최초 차이 → 측정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2FE09-FF2A-4136-A78F-05E9259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E7269-541E-4A7F-84D4-339D261D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C291E-1877-407C-98DB-9CD609BE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0F355-D927-47C0-8AEC-B726432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022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1. 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2222C-F83F-4F19-93AD-F7C164D8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811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test · seed · simulator · option · UVM version 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769E1-68F9-4A8B-BC7D-A7F5977B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F779E-5786-4FCE-BCDA-9A423968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B051D-D47A-452F-9F24-0A83E56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812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2.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D24F5-AE63-4E85-8417-F0D244D6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622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topology · factory · config DB · phase · objection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41051-2A56-4898-8354-88A775E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963AB-3E89-407E-9E87-DC495226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21179-ED48-4274-AB9C-E8DEF914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6232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3. 최초 차이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5FAF5-1A18-4DDA-9717-F7C2A7A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432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request → drive → observe → predict → compare 추적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539CC-376D-41C4-89E7-C39DE99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0C5E0-F288-4982-AC48-84FC5A8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57EE4-198C-4287-A4EF-78ED3694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433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4. 축소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D20FE-DAC9-463C-BF21-FCC7477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243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최소 sequence와 실패 구간 waveform /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4616B-FA6B-45F7-85B5-458DCEC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194D9-D963-44EF-93B9-E645DF6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D4C68-FE67-49B8-AFE7-2C0A7B0D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2442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5. 측정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5A451-A859-4954-8136-37680236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runtime · memory · coverage merge · hot path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1D277-E272-464F-BA0E-E4985999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49619-E557-4DF5-9658-F184A25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로그에는 seed, transaction ID, reset epoch, protocol state를 공통 correlation key로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3366193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FE412-3C69-42A8-90E8-4FA5A76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통합 소개·활용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71443-C88E-41E0-9A3E-38AE714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언제 UVM을 쓰면 좋은가: 재사용·협업·장기 유지보수가 기준입니다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30E4-C57D-4BE6-A4DD-75377C1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3F08-26AB-4A88-9574-08B90E7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83EF6-42DE-4040-BA6D-84593B85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7D03F-D902-4C71-9CA1-0071BC9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 권장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40FBB-71C3-433B-B138-FE413C9F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여러 interface·agent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regression·coverage closure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팀 단위 장기 프로젝트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736EE-E0E1-44DC-854D-E8D8B2B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6A7B-0466-4843-A960-A547442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경량 TB도 충분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4B33-9331-4A80-B04B-38995F1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작은 combinational block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짧은 수명의 단일 목적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빠른 실험이 우선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296B2-792F-478B-9C43-BA479FCD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41F63-BAFF-43C0-8E9D-C03CF65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판단 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993F2-6D29-41AA-A15E-6B2D3D7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같은 agent/checker를 다시 쓸까?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여러 사람이 병렬 개발할까?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실패 재현·trace가 중요할까?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51CF6-E9D8-4EE5-8481-78F34C2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UVM은 작은 테스트의 의무가 아니라, 복잡한 검증을 팀이 지속적으로 운영하기 위한 투자입니다.</a:t>
            </a:r>
          </a:p>
        </p:txBody>
      </p:sp>
    </p:spTree>
    <p:extLst>
      <p:ext uri="{BB962C8B-B14F-4D97-AF65-F5344CB8AC3E}">
        <p14:creationId xmlns:p14="http://schemas.microsoft.com/office/powerpoint/2010/main" val="607551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57FD0-480D-4319-B0A2-810EED19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+ SystemVerilog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ED76A-23DA-4E7A-A52E-0C71F4E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좋은 환경은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무엇을 검증했고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왜 실패했는지 보여줍니다.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A583E-D9AE-4592-A75A-B176DC49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04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520A3-B159-45B6-8CF1-9899E55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D572A-2065-4417-AE1D-C2E3F9A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619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1. SystemVerilog로 timing·transaction·checker를 명확히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2. UVM으로 역할·연결·수명 주기를 표준화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3. monitor 관측값에서 독립적으로 판정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4. 종료 조건과 coverage를 증거로 관리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5. 작은 vertical slice에서 재사용 범위를 확장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A89D-010E-4AFF-821C-041E5F9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23950"/>
            <a:ext cx="3276600" cy="37909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715C9-F0A5-445E-9779-BB44B37C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발표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7DC5F-D454-4716-AC5E-E73FA606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686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통합한 기존 자료 3종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 xmlns:a="http://schemas.openxmlformats.org/drawingml/2006/main">
            <a:r>
              <a:t>공식 기준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IEEE 1800-2023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IEEE 1800.2-2020</a:t>
            </a:r>
          </a:p>
          <a:p xmlns:a="http://schemas.openxmlformats.org/drawingml/2006/main">
            <a:r>
              <a:t>Accellera UVM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B7400-B1D2-4DFC-A9C4-54913C5E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16764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97DFA-E26E-4DC2-A57A-4253E65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1676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작은 DUT부터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BBC9E-C576-40E8-8E8B-CBC8E6B7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71950"/>
            <a:ext cx="10477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683BA-FEB6-4BAA-870E-51BA2E3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1957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끝까지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36F2D-2EA3-4118-83BD-963F4231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9468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2026-07-30T05:41:34.7380000Z</dcterms:created>
  <dcterms:modified xsi:type="dcterms:W3CDTF">2026-07-30T05:41:34.7380000Z</dcterms:modified>
</coreProperties>
</file>