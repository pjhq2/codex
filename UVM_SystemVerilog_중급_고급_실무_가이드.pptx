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b7f49a86f94c44" /><Relationship Type="http://schemas.openxmlformats.org/officeDocument/2006/relationships/extended-properties" Target="/docProps/app.xml" Id="Rf558eda2e9334a90" /><Relationship Type="http://schemas.openxmlformats.org/officeDocument/2006/relationships/officeDocument" Target="/ppt/presentation.xml" Id="Ra7d3995305794e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e30337a16f4a06"/>
  </p:sldMasterIdLst>
  <p:notesMasterIdLst>
    <p:notesMasterId xmlns:r="http://schemas.openxmlformats.org/officeDocument/2006/relationships" r:id="Rc106e2348dcb4482"/>
  </p:notesMasterIdLst>
  <p:sldIdLst>
    <p:sldId xmlns:r="http://schemas.openxmlformats.org/officeDocument/2006/relationships" id="256" r:id="R955ece5baa72428e"/>
    <p:sldId xmlns:r="http://schemas.openxmlformats.org/officeDocument/2006/relationships" id="257" r:id="R5f3d915df11a473e"/>
    <p:sldId xmlns:r="http://schemas.openxmlformats.org/officeDocument/2006/relationships" id="258" r:id="R419b06b8bff641b8"/>
    <p:sldId xmlns:r="http://schemas.openxmlformats.org/officeDocument/2006/relationships" id="259" r:id="R9124e646bc5042fb"/>
    <p:sldId xmlns:r="http://schemas.openxmlformats.org/officeDocument/2006/relationships" id="260" r:id="R2504ca54cde74852"/>
    <p:sldId xmlns:r="http://schemas.openxmlformats.org/officeDocument/2006/relationships" id="261" r:id="R333082dc8b534e9d"/>
    <p:sldId xmlns:r="http://schemas.openxmlformats.org/officeDocument/2006/relationships" id="262" r:id="Rc8a9ff4353684ae0"/>
    <p:sldId xmlns:r="http://schemas.openxmlformats.org/officeDocument/2006/relationships" id="263" r:id="Rd42218fc9bb54805"/>
    <p:sldId xmlns:r="http://schemas.openxmlformats.org/officeDocument/2006/relationships" id="264" r:id="Rb53c4aa2b3fd4143"/>
    <p:sldId xmlns:r="http://schemas.openxmlformats.org/officeDocument/2006/relationships" id="265" r:id="Rc23a70b330494881"/>
    <p:sldId xmlns:r="http://schemas.openxmlformats.org/officeDocument/2006/relationships" id="266" r:id="Rfa32cd4a151a40c1"/>
    <p:sldId xmlns:r="http://schemas.openxmlformats.org/officeDocument/2006/relationships" id="267" r:id="Rd11d19e233834300"/>
    <p:sldId xmlns:r="http://schemas.openxmlformats.org/officeDocument/2006/relationships" id="268" r:id="Ra4c83e8e3d424c20"/>
    <p:sldId xmlns:r="http://schemas.openxmlformats.org/officeDocument/2006/relationships" id="269" r:id="Rf612b0ab1e394558"/>
    <p:sldId xmlns:r="http://schemas.openxmlformats.org/officeDocument/2006/relationships" id="270" r:id="Raef8ea1d8c5e4a06"/>
    <p:sldId xmlns:r="http://schemas.openxmlformats.org/officeDocument/2006/relationships" id="271" r:id="Rab24cb562734464c"/>
    <p:sldId xmlns:r="http://schemas.openxmlformats.org/officeDocument/2006/relationships" id="272" r:id="R418d1347c17447ca"/>
    <p:sldId xmlns:r="http://schemas.openxmlformats.org/officeDocument/2006/relationships" id="273" r:id="R1577518d7c2f48fe"/>
    <p:sldId xmlns:r="http://schemas.openxmlformats.org/officeDocument/2006/relationships" id="274" r:id="R0b40c498d44943e9"/>
    <p:sldId xmlns:r="http://schemas.openxmlformats.org/officeDocument/2006/relationships" id="275" r:id="Rf899c36396584037"/>
    <p:sldId xmlns:r="http://schemas.openxmlformats.org/officeDocument/2006/relationships" id="276" r:id="Rc7ad2ca63ea54926"/>
    <p:sldId xmlns:r="http://schemas.openxmlformats.org/officeDocument/2006/relationships" id="277" r:id="R5253694f6fc54478"/>
    <p:sldId xmlns:r="http://schemas.openxmlformats.org/officeDocument/2006/relationships" id="278" r:id="R7ea9371e317f43b8"/>
    <p:sldId xmlns:r="http://schemas.openxmlformats.org/officeDocument/2006/relationships" id="279" r:id="R9cff4d5861e245f9"/>
    <p:sldId xmlns:r="http://schemas.openxmlformats.org/officeDocument/2006/relationships" id="280" r:id="R50487b6de87a436c"/>
    <p:sldId xmlns:r="http://schemas.openxmlformats.org/officeDocument/2006/relationships" id="281" r:id="Rd73a4bc91a7e49e3"/>
    <p:sldId xmlns:r="http://schemas.openxmlformats.org/officeDocument/2006/relationships" id="282" r:id="R2d4e2f3216d64943"/>
    <p:sldId xmlns:r="http://schemas.openxmlformats.org/officeDocument/2006/relationships" id="283" r:id="R284e5050065943ee"/>
    <p:sldId xmlns:r="http://schemas.openxmlformats.org/officeDocument/2006/relationships" id="284" r:id="R71a39d8d9cad4cd7"/>
    <p:sldId xmlns:r="http://schemas.openxmlformats.org/officeDocument/2006/relationships" id="285" r:id="R114d2645f31c4ddd"/>
    <p:sldId xmlns:r="http://schemas.openxmlformats.org/officeDocument/2006/relationships" id="286" r:id="R2a1d42b21f994b1c"/>
    <p:sldId xmlns:r="http://schemas.openxmlformats.org/officeDocument/2006/relationships" id="287" r:id="Rff802e0c74094154"/>
    <p:sldId xmlns:r="http://schemas.openxmlformats.org/officeDocument/2006/relationships" id="288" r:id="R1e0e6d54cce14de0"/>
    <p:sldId xmlns:r="http://schemas.openxmlformats.org/officeDocument/2006/relationships" id="289" r:id="R30bba3b64adb4b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313bd4dcc84dfd" /><Relationship Type="http://schemas.openxmlformats.org/officeDocument/2006/relationships/slideMaster" Target="/ppt/slideMasters/slideMaster1.xml" Id="Rb1e30337a16f4a06" /><Relationship Type="http://schemas.openxmlformats.org/officeDocument/2006/relationships/notesMaster" Target="/ppt/notesMasters/notesMaster1.xml" Id="Rc106e2348dcb4482" /><Relationship Type="http://schemas.openxmlformats.org/officeDocument/2006/relationships/presProps" Target="/ppt/presProps.xml" Id="R91bd4ec60e794a45" /><Relationship Type="http://schemas.openxmlformats.org/officeDocument/2006/relationships/tableStyles" Target="/ppt/tableStyles.xml" Id="Rad98e85c0f6d4b5d" /><Relationship Type="http://schemas.openxmlformats.org/officeDocument/2006/relationships/slide" Target="/ppt/slides/slide1.xml" Id="R955ece5baa72428e" /><Relationship Type="http://schemas.openxmlformats.org/officeDocument/2006/relationships/slide" Target="/ppt/slides/slide2.xml" Id="R5f3d915df11a473e" /><Relationship Type="http://schemas.openxmlformats.org/officeDocument/2006/relationships/slide" Target="/ppt/slides/slide3.xml" Id="R419b06b8bff641b8" /><Relationship Type="http://schemas.openxmlformats.org/officeDocument/2006/relationships/slide" Target="/ppt/slides/slide4.xml" Id="R9124e646bc5042fb" /><Relationship Type="http://schemas.openxmlformats.org/officeDocument/2006/relationships/slide" Target="/ppt/slides/slide5.xml" Id="R2504ca54cde74852" /><Relationship Type="http://schemas.openxmlformats.org/officeDocument/2006/relationships/slide" Target="/ppt/slides/slide6.xml" Id="R333082dc8b534e9d" /><Relationship Type="http://schemas.openxmlformats.org/officeDocument/2006/relationships/slide" Target="/ppt/slides/slide7.xml" Id="Rc8a9ff4353684ae0" /><Relationship Type="http://schemas.openxmlformats.org/officeDocument/2006/relationships/slide" Target="/ppt/slides/slide8.xml" Id="Rd42218fc9bb54805" /><Relationship Type="http://schemas.openxmlformats.org/officeDocument/2006/relationships/slide" Target="/ppt/slides/slide9.xml" Id="Rb53c4aa2b3fd4143" /><Relationship Type="http://schemas.openxmlformats.org/officeDocument/2006/relationships/slide" Target="/ppt/slides/slide10.xml" Id="Rc23a70b330494881" /><Relationship Type="http://schemas.openxmlformats.org/officeDocument/2006/relationships/slide" Target="/ppt/slides/slide11.xml" Id="Rfa32cd4a151a40c1" /><Relationship Type="http://schemas.openxmlformats.org/officeDocument/2006/relationships/slide" Target="/ppt/slides/slide12.xml" Id="Rd11d19e233834300" /><Relationship Type="http://schemas.openxmlformats.org/officeDocument/2006/relationships/slide" Target="/ppt/slides/slide13.xml" Id="Ra4c83e8e3d424c20" /><Relationship Type="http://schemas.openxmlformats.org/officeDocument/2006/relationships/slide" Target="/ppt/slides/slide14.xml" Id="Rf612b0ab1e394558" /><Relationship Type="http://schemas.openxmlformats.org/officeDocument/2006/relationships/slide" Target="/ppt/slides/slide15.xml" Id="Raef8ea1d8c5e4a06" /><Relationship Type="http://schemas.openxmlformats.org/officeDocument/2006/relationships/slide" Target="/ppt/slides/slide16.xml" Id="Rab24cb562734464c" /><Relationship Type="http://schemas.openxmlformats.org/officeDocument/2006/relationships/slide" Target="/ppt/slides/slide17.xml" Id="R418d1347c17447ca" /><Relationship Type="http://schemas.openxmlformats.org/officeDocument/2006/relationships/slide" Target="/ppt/slides/slide18.xml" Id="R1577518d7c2f48fe" /><Relationship Type="http://schemas.openxmlformats.org/officeDocument/2006/relationships/slide" Target="/ppt/slides/slide19.xml" Id="R0b40c498d44943e9" /><Relationship Type="http://schemas.openxmlformats.org/officeDocument/2006/relationships/slide" Target="/ppt/slides/slide20.xml" Id="Rf899c36396584037" /><Relationship Type="http://schemas.openxmlformats.org/officeDocument/2006/relationships/slide" Target="/ppt/slides/slide21.xml" Id="Rc7ad2ca63ea54926" /><Relationship Type="http://schemas.openxmlformats.org/officeDocument/2006/relationships/slide" Target="/ppt/slides/slide22.xml" Id="R5253694f6fc54478" /><Relationship Type="http://schemas.openxmlformats.org/officeDocument/2006/relationships/slide" Target="/ppt/slides/slide23.xml" Id="R7ea9371e317f43b8" /><Relationship Type="http://schemas.openxmlformats.org/officeDocument/2006/relationships/slide" Target="/ppt/slides/slide24.xml" Id="R9cff4d5861e245f9" /><Relationship Type="http://schemas.openxmlformats.org/officeDocument/2006/relationships/slide" Target="/ppt/slides/slide25.xml" Id="R50487b6de87a436c" /><Relationship Type="http://schemas.openxmlformats.org/officeDocument/2006/relationships/slide" Target="/ppt/slides/slide26.xml" Id="Rd73a4bc91a7e49e3" /><Relationship Type="http://schemas.openxmlformats.org/officeDocument/2006/relationships/slide" Target="/ppt/slides/slide27.xml" Id="R2d4e2f3216d64943" /><Relationship Type="http://schemas.openxmlformats.org/officeDocument/2006/relationships/slide" Target="/ppt/slides/slide28.xml" Id="R284e5050065943ee" /><Relationship Type="http://schemas.openxmlformats.org/officeDocument/2006/relationships/slide" Target="/ppt/slides/slide29.xml" Id="R71a39d8d9cad4cd7" /><Relationship Type="http://schemas.openxmlformats.org/officeDocument/2006/relationships/slide" Target="/ppt/slides/slide30.xml" Id="R114d2645f31c4ddd" /><Relationship Type="http://schemas.openxmlformats.org/officeDocument/2006/relationships/slide" Target="/ppt/slides/slide31.xml" Id="R2a1d42b21f994b1c" /><Relationship Type="http://schemas.openxmlformats.org/officeDocument/2006/relationships/slide" Target="/ppt/slides/slide32.xml" Id="Rff802e0c74094154" /><Relationship Type="http://schemas.openxmlformats.org/officeDocument/2006/relationships/slide" Target="/ppt/slides/slide33.xml" Id="R1e0e6d54cce14de0" /><Relationship Type="http://schemas.openxmlformats.org/officeDocument/2006/relationships/slide" Target="/ppt/slides/slide34.xml" Id="R30bba3b64adb4b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8a24e7f87b41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c60ea414fd4761" /><Relationship Type="http://schemas.openxmlformats.org/officeDocument/2006/relationships/notesMaster" Target="/ppt/notesMasters/notesMaster1.xml" Id="R1d4a51f84dd045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e0184dd55d47a6" /><Relationship Type="http://schemas.openxmlformats.org/officeDocument/2006/relationships/notesMaster" Target="/ppt/notesMasters/notesMaster1.xml" Id="R6c23864c67ff44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8d56a3621e4ec5" /><Relationship Type="http://schemas.openxmlformats.org/officeDocument/2006/relationships/notesMaster" Target="/ppt/notesMasters/notesMaster1.xml" Id="Re473027c2d7d4c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3161e7d0604939" /><Relationship Type="http://schemas.openxmlformats.org/officeDocument/2006/relationships/notesMaster" Target="/ppt/notesMasters/notesMaster1.xml" Id="Rb944deb5626a44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645ea15d69479e" /><Relationship Type="http://schemas.openxmlformats.org/officeDocument/2006/relationships/notesMaster" Target="/ppt/notesMasters/notesMaster1.xml" Id="Rd14a3027b3bd42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7de8a361cb48dd" /><Relationship Type="http://schemas.openxmlformats.org/officeDocument/2006/relationships/notesMaster" Target="/ppt/notesMasters/notesMaster1.xml" Id="Ra24bf093034746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955685809d4214" /><Relationship Type="http://schemas.openxmlformats.org/officeDocument/2006/relationships/notesMaster" Target="/ppt/notesMasters/notesMaster1.xml" Id="R459931b67a0042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025286769448e4" /><Relationship Type="http://schemas.openxmlformats.org/officeDocument/2006/relationships/notesMaster" Target="/ppt/notesMasters/notesMaster1.xml" Id="R5560d1717c9d4a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68580090b34ad7" /><Relationship Type="http://schemas.openxmlformats.org/officeDocument/2006/relationships/notesMaster" Target="/ppt/notesMasters/notesMaster1.xml" Id="Rcf1645070a7146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b53b218c2c4b0a" /><Relationship Type="http://schemas.openxmlformats.org/officeDocument/2006/relationships/notesMaster" Target="/ppt/notesMasters/notesMaster1.xml" Id="Rfdda256afa6346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bc2b19b3ad4f9a" /><Relationship Type="http://schemas.openxmlformats.org/officeDocument/2006/relationships/notesMaster" Target="/ppt/notesMasters/notesMaster1.xml" Id="Rc8ff0c10c42849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4eb95009b74e18" /><Relationship Type="http://schemas.openxmlformats.org/officeDocument/2006/relationships/notesMaster" Target="/ppt/notesMasters/notesMaster1.xml" Id="Re606e91883cc40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8c92c3fbd440c2" /><Relationship Type="http://schemas.openxmlformats.org/officeDocument/2006/relationships/notesMaster" Target="/ppt/notesMasters/notesMaster1.xml" Id="R33d86fe876fc4d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52621d7edc4f96" /><Relationship Type="http://schemas.openxmlformats.org/officeDocument/2006/relationships/notesMaster" Target="/ppt/notesMasters/notesMaster1.xml" Id="R4b7bd0d433cf48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aad650d6f14524" /><Relationship Type="http://schemas.openxmlformats.org/officeDocument/2006/relationships/notesMaster" Target="/ppt/notesMasters/notesMaster1.xml" Id="Rfc9fc915df7a41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98ceb579014c4a" /><Relationship Type="http://schemas.openxmlformats.org/officeDocument/2006/relationships/notesMaster" Target="/ppt/notesMasters/notesMaster1.xml" Id="R473aa96289f64b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4c4d682fc74026" /><Relationship Type="http://schemas.openxmlformats.org/officeDocument/2006/relationships/notesMaster" Target="/ppt/notesMasters/notesMaster1.xml" Id="R19e1086d876b49c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ea0b1852bcd4cc7" /><Relationship Type="http://schemas.openxmlformats.org/officeDocument/2006/relationships/notesMaster" Target="/ppt/notesMasters/notesMaster1.xml" Id="Rad680062132b47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930d2dbf4964834" /><Relationship Type="http://schemas.openxmlformats.org/officeDocument/2006/relationships/notesMaster" Target="/ppt/notesMasters/notesMaster1.xml" Id="Rb45b802912d04b0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fc3f22f4f24b4b" /><Relationship Type="http://schemas.openxmlformats.org/officeDocument/2006/relationships/notesMaster" Target="/ppt/notesMasters/notesMaster1.xml" Id="Re81a4e6829f6480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ca1baa0744c4834" /><Relationship Type="http://schemas.openxmlformats.org/officeDocument/2006/relationships/notesMaster" Target="/ppt/notesMasters/notesMaster1.xml" Id="R5a87aefee5084f5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53adf41aaf644d3" /><Relationship Type="http://schemas.openxmlformats.org/officeDocument/2006/relationships/notesMaster" Target="/ppt/notesMasters/notesMaster1.xml" Id="Rdd0139097e02413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d602ba706e4e3e" /><Relationship Type="http://schemas.openxmlformats.org/officeDocument/2006/relationships/notesMaster" Target="/ppt/notesMasters/notesMaster1.xml" Id="Ree164f738fef43f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cb3440e4f034834" /><Relationship Type="http://schemas.openxmlformats.org/officeDocument/2006/relationships/notesMaster" Target="/ppt/notesMasters/notesMaster1.xml" Id="R4a0b6ff156ab4cf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4b555820909418f" /><Relationship Type="http://schemas.openxmlformats.org/officeDocument/2006/relationships/notesMaster" Target="/ppt/notesMasters/notesMaster1.xml" Id="R86a0352238314fe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7bcb6ec3099464d" /><Relationship Type="http://schemas.openxmlformats.org/officeDocument/2006/relationships/notesMaster" Target="/ppt/notesMasters/notesMaster1.xml" Id="R560726099b084a8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4833689d668436b" /><Relationship Type="http://schemas.openxmlformats.org/officeDocument/2006/relationships/notesMaster" Target="/ppt/notesMasters/notesMaster1.xml" Id="Rba8416abc4794ed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9fae7a1019d4088" /><Relationship Type="http://schemas.openxmlformats.org/officeDocument/2006/relationships/notesMaster" Target="/ppt/notesMasters/notesMaster1.xml" Id="Rc3c49b951ca443e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cc8aa3c1d984202" /><Relationship Type="http://schemas.openxmlformats.org/officeDocument/2006/relationships/notesMaster" Target="/ppt/notesMasters/notesMaster1.xml" Id="Re547388cca13428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8670b02d7154d4d" /><Relationship Type="http://schemas.openxmlformats.org/officeDocument/2006/relationships/notesMaster" Target="/ppt/notesMasters/notesMaster1.xml" Id="R83c5fdd3b5b643a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b7550fbe80c4f6e" /><Relationship Type="http://schemas.openxmlformats.org/officeDocument/2006/relationships/notesMaster" Target="/ppt/notesMasters/notesMaster1.xml" Id="R34e2b7a2de904fd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4d37912fa4c4912" /><Relationship Type="http://schemas.openxmlformats.org/officeDocument/2006/relationships/notesMaster" Target="/ppt/notesMasters/notesMaster1.xml" Id="Rac94b531f0904d4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648602065bf41f0" /><Relationship Type="http://schemas.openxmlformats.org/officeDocument/2006/relationships/notesMaster" Target="/ppt/notesMasters/notesMaster1.xml" Id="R62d74cc7ff34479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b16f4b736f846c9" /><Relationship Type="http://schemas.openxmlformats.org/officeDocument/2006/relationships/notesMaster" Target="/ppt/notesMasters/notesMaster1.xml" Id="R4ff21c21d0394f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자료는 입문 개념을 넘어 실제 UVM 환경의 설계 선택과 디버깅 흐름을 다룹니다.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마무리: 각 주제를 한 번에 도입하기보다 현재 환경의 가장 큰 불확실성 하나부터 구조적으로 정리하는 것이 효과적입니다.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IEEE Std 1800-2023, SystemVerilog Language Reference Manual</a:t>
            </a:r>
          </a:p>
          <a:p xmlns:a="http://schemas.openxmlformats.org/drawingml/2006/main">
            <a:r>
              <a:t>- IEEE Std 1800.2-2020, Universal Verification Methodology</a:t>
            </a:r>
          </a:p>
          <a:p xmlns:a="http://schemas.openxmlformats.org/drawingml/2006/main">
            <a:r>
              <a:t>- Accellera UVM 1.2 User's Guide and Class Reference</a:t>
            </a:r>
          </a:p>
          <a:p xmlns:a="http://schemas.openxmlformats.org/drawingml/2006/main">
            <a:r>
              <a:t>- Accellera UVM Reference Implementation resources: https://accellera.org/downloads/standards/uvm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f7ee7685040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7bf07141264b1b" /><Relationship Type="http://schemas.openxmlformats.org/officeDocument/2006/relationships/slideLayout" Target="/ppt/slideLayouts/slideLayout1.xml" Id="Rd87d3b0152844a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7d3b0152844a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0f8f502424a9b" /><Relationship Type="http://schemas.openxmlformats.org/officeDocument/2006/relationships/notesSlide" Target="/ppt/notesSlides/notesSlide1.xml" Id="R4dad20684da944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dc7ed4aaa4f98" /><Relationship Type="http://schemas.openxmlformats.org/officeDocument/2006/relationships/notesSlide" Target="/ppt/notesSlides/notesSlide2.xml" Id="Ra995d3ab80e743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5f4dd9e5046d4" /><Relationship Type="http://schemas.openxmlformats.org/officeDocument/2006/relationships/notesSlide" Target="/ppt/notesSlides/notesSlide3.xml" Id="Rdb29815c571b4a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c920cbd7748b4" /><Relationship Type="http://schemas.openxmlformats.org/officeDocument/2006/relationships/notesSlide" Target="/ppt/notesSlides/notesSlide4.xml" Id="R73d651b3a02441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0a2afc48c43e4" /><Relationship Type="http://schemas.openxmlformats.org/officeDocument/2006/relationships/notesSlide" Target="/ppt/notesSlides/notesSlide5.xml" Id="Rf8e76251d93b4a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8c28f8e2c4eec" /><Relationship Type="http://schemas.openxmlformats.org/officeDocument/2006/relationships/notesSlide" Target="/ppt/notesSlides/notesSlide6.xml" Id="R8b4644d763a746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be7fff3a04083" /><Relationship Type="http://schemas.openxmlformats.org/officeDocument/2006/relationships/notesSlide" Target="/ppt/notesSlides/notesSlide7.xml" Id="R630e41a7daab4e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1eb56c655484d" /><Relationship Type="http://schemas.openxmlformats.org/officeDocument/2006/relationships/notesSlide" Target="/ppt/notesSlides/notesSlide8.xml" Id="Rbceb02e232424b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3fb7abd6644dc" /><Relationship Type="http://schemas.openxmlformats.org/officeDocument/2006/relationships/notesSlide" Target="/ppt/notesSlides/notesSlide9.xml" Id="R20d70aac05b842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c04907e8f4922" /><Relationship Type="http://schemas.openxmlformats.org/officeDocument/2006/relationships/notesSlide" Target="/ppt/notesSlides/notesSlide10.xml" Id="R9816c208568141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21b3626a74c15" /><Relationship Type="http://schemas.openxmlformats.org/officeDocument/2006/relationships/notesSlide" Target="/ppt/notesSlides/notesSlide11.xml" Id="Rd9a7355a678f4a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9f5348a664f27" /><Relationship Type="http://schemas.openxmlformats.org/officeDocument/2006/relationships/notesSlide" Target="/ppt/notesSlides/notesSlide12.xml" Id="R9e61c64702974b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fe9a63e904749" /><Relationship Type="http://schemas.openxmlformats.org/officeDocument/2006/relationships/notesSlide" Target="/ppt/notesSlides/notesSlide13.xml" Id="R79b69871b58d4e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b1b4f019d421a" /><Relationship Type="http://schemas.openxmlformats.org/officeDocument/2006/relationships/notesSlide" Target="/ppt/notesSlides/notesSlide14.xml" Id="Raa73698cec9e4a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ad4670f6f4f6b" /><Relationship Type="http://schemas.openxmlformats.org/officeDocument/2006/relationships/notesSlide" Target="/ppt/notesSlides/notesSlide15.xml" Id="R0dd9369b6b864e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8aaef0ee54cfc" /><Relationship Type="http://schemas.openxmlformats.org/officeDocument/2006/relationships/notesSlide" Target="/ppt/notesSlides/notesSlide16.xml" Id="Ra1608607e5244f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1dd32bb604e99" /><Relationship Type="http://schemas.openxmlformats.org/officeDocument/2006/relationships/notesSlide" Target="/ppt/notesSlides/notesSlide17.xml" Id="R9a1bf1b8f8c040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649b401d74bb6" /><Relationship Type="http://schemas.openxmlformats.org/officeDocument/2006/relationships/notesSlide" Target="/ppt/notesSlides/notesSlide18.xml" Id="Ra134282a311c43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ce46c23b0410c" /><Relationship Type="http://schemas.openxmlformats.org/officeDocument/2006/relationships/notesSlide" Target="/ppt/notesSlides/notesSlide19.xml" Id="R7ddbc1ba5bfe418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a43c64def4a1e" /><Relationship Type="http://schemas.openxmlformats.org/officeDocument/2006/relationships/notesSlide" Target="/ppt/notesSlides/notesSlide20.xml" Id="R46bd6afe4e8443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ee120ef044da4" /><Relationship Type="http://schemas.openxmlformats.org/officeDocument/2006/relationships/notesSlide" Target="/ppt/notesSlides/notesSlide21.xml" Id="Ra83efb4d1625455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5273ee7a644c1" /><Relationship Type="http://schemas.openxmlformats.org/officeDocument/2006/relationships/notesSlide" Target="/ppt/notesSlides/notesSlide22.xml" Id="R1ecad2bf2a3b461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752c824b5478d" /><Relationship Type="http://schemas.openxmlformats.org/officeDocument/2006/relationships/notesSlide" Target="/ppt/notesSlides/notesSlide23.xml" Id="R40205adbc8624ef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c5fb709214937" /><Relationship Type="http://schemas.openxmlformats.org/officeDocument/2006/relationships/notesSlide" Target="/ppt/notesSlides/notesSlide24.xml" Id="Rd8625ff0d27e48e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8e642f4a2490d" /><Relationship Type="http://schemas.openxmlformats.org/officeDocument/2006/relationships/notesSlide" Target="/ppt/notesSlides/notesSlide25.xml" Id="R79849848cb2b4b0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1d2c9b3bc4dd7" /><Relationship Type="http://schemas.openxmlformats.org/officeDocument/2006/relationships/notesSlide" Target="/ppt/notesSlides/notesSlide26.xml" Id="Rd98015de50e2439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3a323c31543d8" /><Relationship Type="http://schemas.openxmlformats.org/officeDocument/2006/relationships/notesSlide" Target="/ppt/notesSlides/notesSlide27.xml" Id="R35ace2a90a544f9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278c7b44f4e86" /><Relationship Type="http://schemas.openxmlformats.org/officeDocument/2006/relationships/notesSlide" Target="/ppt/notesSlides/notesSlide28.xml" Id="Rdd0b6d01a3b44be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c3c7ff21a44ef" /><Relationship Type="http://schemas.openxmlformats.org/officeDocument/2006/relationships/notesSlide" Target="/ppt/notesSlides/notesSlide29.xml" Id="R28a5c616427d492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545d8de4f42a8" /><Relationship Type="http://schemas.openxmlformats.org/officeDocument/2006/relationships/notesSlide" Target="/ppt/notesSlides/notesSlide30.xml" Id="R92801814b590492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1e28385ed466d" /><Relationship Type="http://schemas.openxmlformats.org/officeDocument/2006/relationships/notesSlide" Target="/ppt/notesSlides/notesSlide31.xml" Id="Rbe2dd4ff2455423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15de0d5cd42c4" /><Relationship Type="http://schemas.openxmlformats.org/officeDocument/2006/relationships/notesSlide" Target="/ppt/notesSlides/notesSlide32.xml" Id="Rd4aa477062f94e2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0b62f65934d5f" /><Relationship Type="http://schemas.openxmlformats.org/officeDocument/2006/relationships/notesSlide" Target="/ppt/notesSlides/notesSlide33.xml" Id="R5e10161a83a9475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7b3508ae74634" /><Relationship Type="http://schemas.openxmlformats.org/officeDocument/2006/relationships/notesSlide" Target="/ppt/notesSlides/notesSlide34.xml" Id="Rbed539a7d02945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E458A-4963-4D8C-96FE-6D0FB344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UVM · SystemVerilog</a:t>
            </a:r>
          </a:p>
          <a:p xmlns:a="http://schemas.openxmlformats.org/drawingml/2006/main">
            <a:pPr algn="l">
              <a:defRPr sz="52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FF1AF-957E-4054-9C99-F3ABDA7B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288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중급 이상 검증 엔지니어를 위한 설계·확장·디버깅 레퍼런스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DAC7B-67F9-4EB2-B4D4-252061C5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B6098-A9D0-4199-9AC7-7DC07119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5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E6875"/>
                </a:solidFill>
                <a:latin typeface="Menlo"/>
                <a:ea typeface="Menlo"/>
                <a:cs typeface="Menlo"/>
              </a:rPr>
              <a:t>Architecture  /  Stimulus  /  Checking  /  Coverage  /  RAL  /  Debug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E8B07-E00C-40F1-B301-7C2C92B1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66750"/>
            <a:ext cx="2286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4F9B5-3424-4D4C-8FC7-C52EDF18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478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F8DF7-842F-4101-A588-BC650D35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621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8C4B8-F78C-43D2-AEFB-84487FE1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4763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22E751-70CB-47A1-ABAB-CE38544C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1906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76B4A-E3D2-49B9-8708-9F776A74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38400"/>
            <a:ext cx="148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4CCDB-527F-4A83-96A5-0E557A2C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reusable</a:t>
            </a:r>
          </a:p>
          <a:p xmlns:a="http://schemas.openxmlformats.org/drawingml/2006/main">
            <a:pPr algn="ctr">
              <a:def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verification</a:t>
            </a:r>
          </a:p>
        </p:txBody>
      </p:sp>
    </p:spTree>
    <p:extLst>
      <p:ext uri="{BB962C8B-B14F-4D97-AF65-F5344CB8AC3E}">
        <p14:creationId xmlns:p14="http://schemas.microsoft.com/office/powerpoint/2010/main" val="1008165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F1028-A65E-48C4-8223-6250B168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C41BB-30D4-4FA9-9AC1-1F8E3F11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이 자료가 다루는 검증의 설계 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558F4-C28C-4446-B284-F7408605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32920-11AA-4226-8BFE-54A5B943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1517F-2632-4B74-8DAD-25F8A04C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5238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8CFAE-E04C-4FCD-A3F1-2D02ECE3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구조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E32E5-46B5-4AD1-BD83-8D8B9433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4781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agent / env / test / config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EB8DD-7A96-4A42-9FF8-6D409FDD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5238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45EC6-E63A-4EAA-9838-CA9AC499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흐름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7DCC5-06B0-43AD-B276-B827CCF5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4781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sequence / TLM / phase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251AB-7D14-4802-A5DF-7D9BE6F4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5238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04DD6-3259-40FD-BD6E-30FBB23A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정확성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A40C5-DDF2-4201-A16A-5162B2BF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781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scoreboard / assertion / RAL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78F16-6613-49DD-BAED-DC467D6D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5238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EEB1F-F41D-4F30-8281-90916A70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81450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완결성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690AF-B474-4610-BDA0-0E8A6FE4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4781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coverage / regression / closure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DC6BA-6516-4CF2-AB3D-5ABEAEE9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목표는 ‘동작하는 testbench’가 아니라 변경에 강하고 설명 가능한 검증 시스템입니다.</a:t>
            </a:r>
          </a:p>
        </p:txBody>
      </p:sp>
    </p:spTree>
    <p:extLst>
      <p:ext uri="{BB962C8B-B14F-4D97-AF65-F5344CB8AC3E}">
        <p14:creationId xmlns:p14="http://schemas.microsoft.com/office/powerpoint/2010/main" val="2137939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D5100-4216-47D3-9A4D-4ABA93D7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6E877-1203-4E81-BA6A-0B642DA5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권장 레이어: protocol, transaction, scenario를 분리합니다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612B1-6BB4-4D86-B8C1-0F33E898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0C455-6B5F-4B74-88D8-F198ACAF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66B6D-18E4-44F9-B012-2B5EC8A0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6572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9A4EC-8967-49B9-BE9E-CC58D0C3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59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Interface / clocking block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0C2BB-138D-4C79-BBEB-3C41E779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pin·sampling semantics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6606C-1D70-4ED0-8790-EFBE9A7C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33675"/>
            <a:ext cx="6572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03FD0-9F76-4A90-98B7-75C48359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670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sequence item / constraint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B6E81-21CF-40F4-A005-F2F57363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semantic request/response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8F81F-C2CC-416F-A9DB-A87085BD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14725"/>
            <a:ext cx="6572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B6C0D-FD96-4D8C-877E-6AEFAE00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sequence / virtual sequence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F5368-76FB-4E9E-B17F-6E5FE38C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385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use case and coordination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28B51-9FA6-4A39-83F5-F452A5E1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95775"/>
            <a:ext cx="6572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FD560-85E9-4E53-842A-2217E5D4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test / configuration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32188-453C-4DF0-B430-78BAEB09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96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intent and topology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5A958-3B77-4E53-B302-BB32BE37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레이어 간 경계가 흐려지면 재사용성과 디버깅 가능성이 동시에 떨어집니다.</a:t>
            </a:r>
          </a:p>
        </p:txBody>
      </p:sp>
    </p:spTree>
    <p:extLst>
      <p:ext uri="{BB962C8B-B14F-4D97-AF65-F5344CB8AC3E}">
        <p14:creationId xmlns:p14="http://schemas.microsoft.com/office/powerpoint/2010/main" val="1105438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79408-B94E-4FB3-9295-79B318CB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71B3F-FD41-413B-A4DE-51B43F92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UVM topology는 ‘환경의 공개 API’처럼 취급해야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2787C-4BA7-4F65-8DEF-7A4CDBC7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B955D-3A8F-42FF-9887-BBAA695E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509FC-F97C-4574-9250-85E77818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2575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0C218-47DB-4FF4-ABD2-89B2A284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EB14F-7FE3-430D-98C0-2411A2CE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8003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driver · sequencer · monitor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active/passive 전환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protocol 단위 재사용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A938B-91A7-4A5F-9C55-FC247B05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32575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B678E-D5DC-4284-BA1E-0CDAD88C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288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F8A99-AA34-49DA-B1E9-9C5051CB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28003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여러 agent + checker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sub-env 조합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상위 연결점 제공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655E3-1038-4E9B-8239-11BD7A0A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32575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176C8-2CAF-4A8E-83BB-8CEC2C52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288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56630-5BCA-4EC7-943D-4DF6A536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28003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configuration 선택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virtual sequence 시작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시나리오별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0E0B6-A10B-46D4-BD78-EDF10C63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공개할 것: config 객체, analysis export, virtual sequencer. 숨길 것: 내부 implementation detail.</a:t>
            </a:r>
          </a:p>
        </p:txBody>
      </p:sp>
    </p:spTree>
    <p:extLst>
      <p:ext uri="{BB962C8B-B14F-4D97-AF65-F5344CB8AC3E}">
        <p14:creationId xmlns:p14="http://schemas.microsoft.com/office/powerpoint/2010/main" val="1340678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95ED7-9A59-452A-B963-03401AA4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16B25-DAE6-4BC9-BFAA-256B06F4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config_db는 경로 문자열이 아니라 ‘계약’으로 관리합니다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5EC32-DE60-4C8E-BF1D-0D3EE229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C08D5-B44B-4696-85DD-572F80D7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6D6FE-63C5-49E6-AAE0-29399C61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615315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C64A1-EA6E-4BEE-90CC-683D157C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7721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test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uvm_config_db#(my_agent_cfg)::set(this,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"env.agent", "cfg", cfg);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agent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if (!uvm_config_db#(my_agent_cfg)::get(this, "", "cfg", cfg))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`uvm_fatal("NO_CFG", "agent cfg missing")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CFA7B-4C03-4F68-B745-861CA77C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00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실무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812AD-F579-4EDD-97C1-4E52FE84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14600"/>
            <a:ext cx="3524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config 객체로 관련 설정을 묶는다</a:t>
            </a:r>
          </a:p>
          <a:p xmlns:a="http://schemas.openxmlformats.org/drawingml/2006/main">
            <a:pPr algn="l">
              <a:defRPr sz="15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set은 상위, get은 소비 지점</a:t>
            </a:r>
          </a:p>
          <a:p xmlns:a="http://schemas.openxmlformats.org/drawingml/2006/main">
            <a:pPr algn="l">
              <a:defRPr sz="15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wildcard는 최소화한다</a:t>
            </a:r>
          </a:p>
          <a:p xmlns:a="http://schemas.openxmlformats.org/drawingml/2006/main">
            <a:pPr algn="l">
              <a:defRPr sz="15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get 실패는 즉시 fatal로 만든다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2EDCB-55D0-48F4-80BB-29B92F3B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테스트 코드가 컴포넌트 내부 필드를 직접 만지기 시작하면 config 계약을 재정의할 시점입니다.</a:t>
            </a:r>
          </a:p>
        </p:txBody>
      </p:sp>
    </p:spTree>
    <p:extLst>
      <p:ext uri="{BB962C8B-B14F-4D97-AF65-F5344CB8AC3E}">
        <p14:creationId xmlns:p14="http://schemas.microsoft.com/office/powerpoint/2010/main" val="1017630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CEB46-3480-4BB6-B94A-5561387A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3044F-DC26-4771-BD7B-4FCFF942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factory override는 변형을 주입하는 강력한 도구입니다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2AABC-9630-4A23-865E-1BE99F89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35778-1B2E-4ED4-956D-9C255C5D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EDEFE-3959-4CAF-A47C-A2E28BFF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9626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9F482-9498-4A94-A3DE-91547E7E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581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type override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base_driver::type_id::set_type_override(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err_inject_driver::get_type());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instance override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base_seq::type_id::set_inst_override(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timeout_seq::get_type(), "env.agent.sqr.*");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DFD35-3C10-44C5-B3E4-0FFDEF9D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7147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F6E4F-E149-491D-B14D-39885696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2885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선택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92095-D84C-4BC4-8789-8BC0DA21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24150"/>
            <a:ext cx="3257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type override: 전역 정책 변경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instance override: 한 경로만 변경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테스트 시작 전 설정하고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factory print로 실제 타입을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B49AD-F98D-44E5-AE96-0F545D02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override는 숨은 분기를 만들 수 있습니다. 이름·경로·의도를 테스트 로그에 남기세요.</a:t>
            </a:r>
          </a:p>
        </p:txBody>
      </p:sp>
    </p:spTree>
    <p:extLst>
      <p:ext uri="{BB962C8B-B14F-4D97-AF65-F5344CB8AC3E}">
        <p14:creationId xmlns:p14="http://schemas.microsoft.com/office/powerpoint/2010/main" val="11059433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BD080-E965-42C1-8B5A-E0C49B63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ECE3E-6965-43B5-8582-B2696889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phase를 ‘생성·연결·실행·정리’의 책임으로 나눕니다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13FC1-B8FF-4B39-B292-CCCAC03B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EE2AB-5125-40E8-9BB2-5588FD7D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2EA19-06D4-45C9-9E13-A32CAF88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F949F-4BAB-4851-A18D-24DAB244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build_phase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9CEA6-F1BD-4176-911F-DA4694CA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create / get config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DA6EA-D941-4C2C-9345-3C5AF93B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81250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D3FA4-643F-408E-89FD-E5D0653F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1937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connect_phase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09547-9A2F-4686-B54D-0CC6FF90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992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TLM, port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A73A0-3292-4E5D-AEBC-4259F1D4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81250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83E7C-BB01-4C9B-9A8F-C0FC172E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1937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end_of_elaboration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11E7A-47BD-413F-A62F-C8576C8A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0992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topology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298C6-49C1-41F0-86D6-B9B829FC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740FB-9D62-4F8D-AAF3-7B12FF71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1937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3D8DFF"/>
                </a:solidFill>
                <a:latin typeface="Menlo"/>
                <a:ea typeface="Menlo"/>
                <a:cs typeface="Menlo"/>
              </a:rPr>
              <a:t>run_phase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64A7C-6943-4C7F-A5E0-DFB70D1D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0992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time-consuming stimulus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95346-0C42-4E91-97C5-C153AD96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1847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DF6A4-AC61-4C44-A5DA-05071326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19375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01318"/>
                </a:solidFill>
                <a:latin typeface="Menlo"/>
                <a:ea typeface="Menlo"/>
                <a:cs typeface="Menlo"/>
              </a:rPr>
              <a:t>extract/check/report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7B212-2D49-4753-AE7A-3DF52A03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0992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잔여 데이터와 결과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EA061-2225-431D-BB75-331901A0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run_phase 이전에 토폴로지 오류를 찾고, report 전에 미처리 transaction을 확인하는 습관이 중요합니다.</a:t>
            </a:r>
          </a:p>
        </p:txBody>
      </p:sp>
    </p:spTree>
    <p:extLst>
      <p:ext uri="{BB962C8B-B14F-4D97-AF65-F5344CB8AC3E}">
        <p14:creationId xmlns:p14="http://schemas.microsoft.com/office/powerpoint/2010/main" val="12273380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50251-FF1C-49F7-9E85-F0968FAF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08C94-01F9-409E-9319-D3EB66CB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objection은 테스트의 수명 정책이지 동기화 수단이 아닙니다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8768D-1C22-48FA-8575-CDAADE17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BABDE-A520-463F-97CE-F0C4A291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D8B16-C19A-4EE1-AC18-8E505311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5715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56951-73F1-4FC5-A4CB-C3B87B01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334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task run_phase(uvm_phase phase);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phase.raise_objection(this, "traffic");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vseq.start(env.vseqr);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wait (env.sb.is_drained());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phase.drop_objection(this, "traffic done");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CCB4A-D2D1-42A8-AD68-EDD7A305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38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53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534F"/>
                </a:solidFill>
                <a:latin typeface="Helvetica Neue"/>
                <a:ea typeface="Helvetica Neue"/>
                <a:cs typeface="Helvetica Neue"/>
              </a:rPr>
              <a:t>피해야 할 패턴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09015-33C9-48D0-A7E1-42B910A4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14600"/>
            <a:ext cx="361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driver가 매 transaction마다 objection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background thread의 drop 누락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timeout 없이 wait forever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완료 조건은 명시적 drain/idle 상태로 모델링</a:t>
            </a:r>
          </a:p>
        </p:txBody>
      </p:sp>
    </p:spTree>
    <p:extLst>
      <p:ext uri="{BB962C8B-B14F-4D97-AF65-F5344CB8AC3E}">
        <p14:creationId xmlns:p14="http://schemas.microsoft.com/office/powerpoint/2010/main" val="17176783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1E54E-BC1F-4C28-BC76-C5C58334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680FE-5DF6-4607-91DF-0EF897AE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reset은 별도 시나리오가 아니라 전체 환경의 상태 전이입니다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B5880-BF3D-445A-B8CA-708A56B2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D9903-CC16-4DA4-9866-43874CD1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312CD-6536-44BF-A91C-E4CDC48E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A3C83-539C-4B60-B33A-6D7D0F25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감지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C9BD9-22CD-4D09-8107-28E5EEF6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28800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monitor가 reset assertion/deassertion을 보고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06EBD-7A51-48D5-A3A7-B8FA38C7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2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12749-1DAA-408D-86CD-5081C6E5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9AEAB-791D-41E6-8356-94313A84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중단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4B721-9DD0-4EED-9C5E-5745FF10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driver의 outstanding request를 안전하게 취소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EC56F-2572-4903-9633-909B5337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D3190-3BB0-4310-94AE-B0AE4D83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5EF39-C2FE-4E7A-B340-D48C8DC8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초기화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6D2ED-07FF-472D-AEAD-9BCDF084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scoreboard queue, predictor, coverage sampling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A9915-6597-4093-B03E-0506872C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1D51C-FF69-4226-ACED-A51F3200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58FF4-0931-4F7D-9FC6-BFD0F519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재개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1BE1F-CC38-4A0F-BA11-A53D02E8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00550"/>
            <a:ext cx="733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새 epoch에서 traffic을 시작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152BF-94C0-469E-A896-B9503A1C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958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59F865-DF4C-4674-A4C3-369C45A5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핵심: reset 전 transaction이 reset 후 비교에 섞이지 않도록 epoch 또는 flush 정책을 명확히 합니다.</a:t>
            </a:r>
          </a:p>
        </p:txBody>
      </p:sp>
    </p:spTree>
    <p:extLst>
      <p:ext uri="{BB962C8B-B14F-4D97-AF65-F5344CB8AC3E}">
        <p14:creationId xmlns:p14="http://schemas.microsoft.com/office/powerpoint/2010/main" val="20792938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783DE-2C6F-4255-94E7-7A023E11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24D69-27E3-45D5-BC19-AB2C013F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run-time phase와 sequence의 종료 조건을 일관되게 설계합니다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224E6-96F3-47AA-AC2F-22390677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3621F-B03C-48BB-BF89-8C290A52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C5307-0D62-44D0-B994-5AA41FB1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32385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7668A-DF51-442A-9950-6B13E298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시간 기반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8EF08-6422-4234-ACFF-858D2D37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clock / timeout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watchdog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latency budget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A5DAA-D4AE-496B-BE7D-404F5CDC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32385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79CC6-0CE7-47F7-ADA8-F409066D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479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이벤트 기반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36299-F400-4A4D-A9B2-A68AEA80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432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response / interrupt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idle / drain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barrier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9B001-D2A2-4BAA-A9CE-B5BE5A84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19300"/>
            <a:ext cx="323850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D18B0-0399-4A14-BB29-01C3015A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4790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수량 기반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4F710-EA76-4EEE-B078-A2D51E16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432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N transaction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coverage goal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error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E6610-988A-487A-AB59-178ADE84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한 테스트는 보통 하나의 주 종료 조건과 하나의 watchdog을 가져야 분석하기 쉽습니다.</a:t>
            </a:r>
          </a:p>
        </p:txBody>
      </p:sp>
    </p:spTree>
    <p:extLst>
      <p:ext uri="{BB962C8B-B14F-4D97-AF65-F5344CB8AC3E}">
        <p14:creationId xmlns:p14="http://schemas.microsoft.com/office/powerpoint/2010/main" val="14714505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988FB-5E63-40AC-B774-2CA2A012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42C56-6525-4BDF-8E82-6EA84B16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sequence item은 프로토콜 의미와 랜덤화 정책을 함께 담습니다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D998B-095F-42F5-875F-0AAD10BA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8E14B-2BCE-4F30-A8C6-EF106181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D23CF-B21F-4BE9-AEF1-6A25A210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59055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0E5FB-169B-4016-9595-7942DA01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524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class pkt extends uvm_sequence_item;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rand bit [15:0] addr;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rand bit        write;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rand byte       data[];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bit [1:0]       resp;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constraint c_align { addr[1:0] == 0; }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constraint c_len   { data.size inside {[1:16]}; }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endclass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AC666-EEFB-49AA-8AF5-484DCD9D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모델링 원칙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A32DC-0033-46B0-AEB0-3B34D509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95550"/>
            <a:ext cx="3524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driver가 알아야 할 최소 정보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monitor가 복원할 수 있는 형태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비교에 필요한 response / metadata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copy/compare/print/record 지원</a:t>
            </a:r>
          </a:p>
        </p:txBody>
      </p:sp>
    </p:spTree>
    <p:extLst>
      <p:ext uri="{BB962C8B-B14F-4D97-AF65-F5344CB8AC3E}">
        <p14:creationId xmlns:p14="http://schemas.microsoft.com/office/powerpoint/2010/main" val="7077353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48E53-0396-4BA3-95A8-837BA1B4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2B8AE-14A7-457F-B1A9-A55C5DB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constraint는 생성 규칙이고, scenario는 sequence가 표현합니다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65B93-4CB6-456D-A348-FF80C0D0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7CCE7-D20D-48CF-B3FD-F6FBBF9C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04429-2CF2-47C0-AA15-7603CEED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810250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E4090-886C-47CE-BE38-8D1BC46D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42925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constraint c_boundary {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addr dist {16'h0000 := 1,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         [16'h0001:16'hFFFE] := 8,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         16'hFFFF := 1};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constraint c_order { solve burst_len before addr; 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54754-E30D-4A50-84DE-7569F589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19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유용한 도구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81CB9-4243-41AA-8FAD-013355EC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95550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dist: 발생 빈도 조절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inside: 범위 표현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solve before: 의존성 명시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soft: 기본값 + test override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randcase: scenario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A6181-ED5D-4889-A8B8-1ABF0937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제약은 ‘어떤 값이 legal한가’를 설명해야 합니다. coverage gap을 constraint로 무작정 메우지 마세요.</a:t>
            </a:r>
          </a:p>
        </p:txBody>
      </p:sp>
    </p:spTree>
    <p:extLst>
      <p:ext uri="{BB962C8B-B14F-4D97-AF65-F5344CB8AC3E}">
        <p14:creationId xmlns:p14="http://schemas.microsoft.com/office/powerpoint/2010/main" val="11030552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24EDD-DDA0-46ED-90C9-D5AD1F05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BDB04-A733-454B-AD2D-E81EDEF9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seed 재현성과 random stability는 디버그의 출발점입니다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9294B-A00A-4D44-8102-A57A6933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CFBC2-FC48-4D30-A023-372F7599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404EA-9EFE-4151-A06A-3C04DA0D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238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888CB-7A8B-414A-AF00-1265C313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재현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B6755-1459-46D8-8123-F44BB7B4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7813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test + seed + simulator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compile options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UVM version을 로그에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6F1B8-611D-4F47-8C23-DA1301DD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F7031-1555-45D5-85BC-8D910507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288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격리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1EF57-D7CC-4AE6-BC5C-44A6DA60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7813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객체별 RNG 사용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불필요한 randomize 호출 제거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sequence 간 숨은 공유 금지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1A4A0-E53E-4B22-9868-ACF2BA44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3238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3C464-0F1B-4028-A451-340C9AE4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288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축소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13156-F780-4D06-AF44-22CFD633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7813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failing seed를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최소 scenario로 추출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transaction trace 보존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4816E-B8A2-4AF0-A2A7-95D9F9F2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동일 seed가 같은 실패를 만들지 못하면, 원인을 찾기 전에 환경의 비결정성을 먼저 제거해야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5620412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A6D7F-314C-4931-8DAB-540CAB88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11D18-1D4C-4591-AA9B-97010AAA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sequencer arbitration은 공유 자원의 정책을 드러냅니다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EE840-3832-4001-98D8-81D222E2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564B9-4775-4236-9594-AA386E80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07678-6EF3-4443-A22F-EB80720A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491490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ABB41-8EB0-4891-A96B-DAEAD34A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5339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sequence body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lock(p_sequencer);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repeat (4) begin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`uvm_do(req)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unlock(p_sequencer);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035D3-99C7-4382-BB70-91F9704F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81200"/>
            <a:ext cx="466725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5FE9A-3CE5-407C-B32B-D954DDC8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운영 지침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6E067-E539-46E3-B541-1A97B9CE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05100"/>
            <a:ext cx="4210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default / weighted / strict FIFO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lock/grab은 짧게 유지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exclusive traffic은 virtual sequence에서 조정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응답 경로와 request ordering을 함께 설계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48E21-8972-4C87-A4E6-B06BADC6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arbitration 문제가 보이면 sequence priority를 올리기 전에 자원 모델과 병렬성 요구를 다시 확인하세요.</a:t>
            </a:r>
          </a:p>
        </p:txBody>
      </p:sp>
    </p:spTree>
    <p:extLst>
      <p:ext uri="{BB962C8B-B14F-4D97-AF65-F5344CB8AC3E}">
        <p14:creationId xmlns:p14="http://schemas.microsoft.com/office/powerpoint/2010/main" val="20910006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98C06-7253-4129-BF33-1A89A628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3041E-1487-4F37-84BC-4D644BB5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virtual sequence는 여러 agent의 ‘의도’를 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8A3E2-0B61-4B4C-B998-06F6A161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281E2-B6B1-4F4F-BD34-5583884F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CC43E-84D6-4841-862F-13A3252D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28B63-0AE3-43AC-8FB9-7963507A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2A08B-0FD8-42FD-A4F3-A327194D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571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8FBC3-A6F7-4D8D-9495-3E89E60E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virtual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A6DC3-0D28-46E0-A3CB-A1B2E043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scenario / ordering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F7CBC-15DD-4C1A-BF98-E834ADD9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2571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6E27E-65E2-408C-84D6-40CDCD05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43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A agent seq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5582D-E3C2-4930-B083-5DC1A2F8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908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protocol-specific traffic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6DDB9-45CF-4E60-A3EC-493FBB6C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2571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7B564-1D92-4D61-B618-A30427BC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43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B agent seq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C21AF-5130-4981-A5BD-50CCBB75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908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protocol-specific traffic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1211D-A35C-4274-AF73-B5E52D4E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virtual sequencer는 계층의 연결점일 뿐입니다. protocol detail이 virtual sequence로 새지 않게 유지하세요.</a:t>
            </a:r>
          </a:p>
        </p:txBody>
      </p:sp>
    </p:spTree>
    <p:extLst>
      <p:ext uri="{BB962C8B-B14F-4D97-AF65-F5344CB8AC3E}">
        <p14:creationId xmlns:p14="http://schemas.microsoft.com/office/powerpoint/2010/main" val="17049173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64D04-A14A-4C30-83CC-1F3DDC97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55610-B813-4270-9318-DB0C5D62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response 처리 방식은 transaction의 식별자와 순서를 전제로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2938E-295F-4102-BE66-9FD6C328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0C49D-301E-4B76-833C-D47437FB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FA8AF-D147-4C8B-8E65-1D4744DD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3721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F3304-6858-47AF-A793-531813E8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911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out-of-order response의 예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req.set_id_info(rsp);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seq_item_port.put_response(rsp);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sequence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get_response(rsp, request_id);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06A1D-7846-4E01-B66A-440CEF57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38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반드시 결정할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4CB3F-B47E-4C02-A590-5ED275ED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14600"/>
            <a:ext cx="361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in-order인가, out-of-order인가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request_id / transaction_id의 책임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timeout과 retry의 소유자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reset 시 outstanding response 처리</a:t>
            </a:r>
          </a:p>
        </p:txBody>
      </p:sp>
    </p:spTree>
    <p:extLst>
      <p:ext uri="{BB962C8B-B14F-4D97-AF65-F5344CB8AC3E}">
        <p14:creationId xmlns:p14="http://schemas.microsoft.com/office/powerpoint/2010/main" val="1773248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38C68-38B1-49E1-9F62-D243580E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AA26D-0317-48BC-AF1D-8422F490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callback·policy 객체는 override보다 좁은 확장점을 제공합니다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4544F-5F90-49F6-8943-D8F87DE2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B56EC-E1C2-4482-B90F-A75C1068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8EC44-08F1-462E-A57F-B530052A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3528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63250-F7B3-429F-BF61-F1BBE3A8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callback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CD284-0375-4955-A524-A2F010BC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895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driver 전/후 hook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monitor observation hook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error injection 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CB697-48CC-4F7E-8BD2-CEFCB1EC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33528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C5490-9150-4FC6-8325-14331B2E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policy object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4A73E-88FD-455C-ABDB-7D1A3D65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895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address map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latency model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compare strictness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CF9DF-CBFB-420E-9C28-F55CC3E1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33528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5D4D1-4E3A-4083-835D-36FEE6AE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288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factory override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3FE32-D31F-4709-8AA7-B7320DC5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895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구현 전체 교체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큰 동작 변형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테스트 시작 전 확정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39181-988B-4600-B421-A0166878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816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확장 요구의 크기에 맞는 메커니즘을 선택하면 테스트 간 간섭을 줄일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3760492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E141D-A255-4CAE-BD7E-B41397DA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74498-AF95-4D43-AD20-6D794CBC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TLM analysis 연결은 broadcast이고, subscriber는 소비자입니다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C159A-45AF-446B-95CE-CB438410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09344-7F5A-49DB-A8F1-39A18964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A0E95-FE26-4890-938A-3B143751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5619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22B80-97A1-43B0-9508-6D1C9025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52387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monitor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uvm_analysis_port#(pkt) ap;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ap.write(observed_pkt);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// env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mon.ap.connect(sb.analysis_export);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mon.ap.connect(cov.analysis_export);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F6E2A-AE44-4E23-9829-EB314682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52625"/>
            <a:ext cx="3905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08F6D-C1E4-4019-9F89-1AA4306E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81225"/>
            <a:ext cx="344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설계 포인트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0DCC9-AD4A-49B7-9079-55B3F87D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76525"/>
            <a:ext cx="3448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monitor는 관찰만 한다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consumer가 mutation하지 않는다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공유 객체면 clone 정책을 명시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fan-out은 env에서 투명하게 연결</a:t>
            </a:r>
          </a:p>
        </p:txBody>
      </p:sp>
    </p:spTree>
    <p:extLst>
      <p:ext uri="{BB962C8B-B14F-4D97-AF65-F5344CB8AC3E}">
        <p14:creationId xmlns:p14="http://schemas.microsoft.com/office/powerpoint/2010/main" val="4205906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5A17E-FB2A-4335-8EB9-B6239042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28AD8-102F-4F40-9983-660BB816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analysis FIFO는 비동기 producer/consumer를 안전하게 분리합니다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A0C71-003C-49BE-9575-E4529AF0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B4FC6-BB5A-488B-9A71-544E2658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D3129-FC9D-4AC5-868E-10609FD7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5810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92C45-62FA-4FF7-9CF9-91664501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4292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uvm_tlm_analysis_fifo#(pkt) exp_fifo;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uvm_tlm_analysis_fifo#(pkt) act_fifo;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task run_phase(uvm_phase phase);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forever begin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exp_fifo.get(exp);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act_fifo.get(act);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  compare(exp, act);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end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EAAD8-3DBC-4918-A6B3-044D9666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53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534F"/>
                </a:solidFill>
                <a:latin typeface="Helvetica Neue"/>
                <a:ea typeface="Helvetica Neue"/>
                <a:cs typeface="Helvetica Neue"/>
              </a:rPr>
              <a:t>주의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328FCC-D158-4A57-A92C-7F167DDF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33650"/>
            <a:ext cx="352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단순 get/get은 순서가 보장될 때만 안전합니다.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독립 stream은 key, timestamp, window 또는 transaction id로 매칭해야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6734408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986F4-945B-4940-A0A8-F680F629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D0CF2-8941-4732-A414-1D0D6F6A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scoreboard는 ‘비교’보다 ‘매칭 정책’을 먼저 설계합니다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BB845-70F1-42E8-ACB2-FDD6D574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A5B31-B778-48BF-B351-79E78DF2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1A007-1586-4366-9478-6EC59916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5238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B9F7D-8FD9-48B7-997A-69AFF5A0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in-order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5903B-F68A-48F3-B797-86F7E8DE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478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queue[0] ↔ queue[0]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1C87F-6DB0-4775-8DBB-7D8010C5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238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8B068-5CDE-4298-BFE8-735E2E65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8122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keyed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7CE74-9AFD-4FE2-A8E9-7C2A2D6D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76525"/>
            <a:ext cx="478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ID / address / tag로 탐색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87641-EB28-4E78-852B-D0A8EDD3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48075"/>
            <a:ext cx="5238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B7FA3-2301-4474-8E50-31EB7E15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windowed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6230D-692A-4E5F-9E87-BB177E0D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478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latency window 내 후보 매칭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A2202-1F20-42B1-B00E-596437E2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48075"/>
            <a:ext cx="52387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B85C1-6195-4134-840C-B125D01D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76675"/>
            <a:ext cx="4781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stateful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E38A6-4BCA-4302-A082-BAC04FF9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71975"/>
            <a:ext cx="478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reference model의 상태 전이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95908-06D9-494B-AFF5-A8FFC139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오류 메시지에는 expected/actual뿐 아니라 key, time, stream, reset epoch, 최근 history를 포함하세요.</a:t>
            </a:r>
          </a:p>
        </p:txBody>
      </p:sp>
    </p:spTree>
    <p:extLst>
      <p:ext uri="{BB962C8B-B14F-4D97-AF65-F5344CB8AC3E}">
        <p14:creationId xmlns:p14="http://schemas.microsoft.com/office/powerpoint/2010/main" val="8958645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66A20-BA22-4D14-8F3F-490A11FC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7FBF0-8A89-4BE2-B4F3-43F97372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reference model은 DUT 구현이 아니라 spec 모델이어야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0932E-72DA-406D-A83A-89319B0B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ED2C7-588F-4752-983D-C742070F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2712F-FC76-4F14-B641-8E1248A1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F8305-1002-4658-A1D8-34D097E5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좋은 모델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87451-465C-4EBD-9BF9-7554E6AF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876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명확한 입력/출력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독립 알고리즘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추적 가능한 상태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빠른 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E515B-E7DB-471D-B686-8758BBE4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B64A4-532C-452E-9E57-76D70220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나쁜 모델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7160A-D159-48AA-907E-B680F14F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876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RTL을 복사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DUT internal signal 의존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비결정적 시간 모델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오류를 숨기는 동일 bug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4390B-70F9-4AED-B2BC-EEB0A155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3333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F73B7-59F8-49F1-B87A-3FDA2BCE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288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현실적 절충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7B35F-6536-4245-BA30-85979BAD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876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외부 golden model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transaction-level model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추상도 차이는 adapter로 해소</a:t>
            </a:r>
          </a:p>
        </p:txBody>
      </p:sp>
    </p:spTree>
    <p:extLst>
      <p:ext uri="{BB962C8B-B14F-4D97-AF65-F5344CB8AC3E}">
        <p14:creationId xmlns:p14="http://schemas.microsoft.com/office/powerpoint/2010/main" val="11308136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00623-CC42-4FFF-BB03-BDAFCDAE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B9A2C-D993-48CF-B27F-7A7DD8A7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SVA는 protocol contract를 가장 가까운 곳에서 감시합니다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170DE-E3C7-4D07-A744-2E21593B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2D8D8-2F08-466F-97FC-2AEFBD08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4AB0E-8BF7-4FB1-8B4A-39193082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58674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74E95-1D29-48E1-A0C9-73974BA7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54864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property p_valid_stable;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@(posedge clk) disable iff (!rst_n)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valid &amp;&amp; !ready |=&gt; $stable(data);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endproperty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a_valid_stable: assert property(p_valid_stable);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0A376-1B65-4DBD-B3E5-8E69C2D2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19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SVA 실무 체크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3AA07-B448-468F-84B5-4336416C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95550"/>
            <a:ext cx="371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clocking / sampling region 확인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disable iff reset semantics 검토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vacuity를 cover property로 보완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• assertion message에 context 추가</a:t>
            </a:r>
          </a:p>
        </p:txBody>
      </p:sp>
    </p:spTree>
    <p:extLst>
      <p:ext uri="{BB962C8B-B14F-4D97-AF65-F5344CB8AC3E}">
        <p14:creationId xmlns:p14="http://schemas.microsoft.com/office/powerpoint/2010/main" val="158207291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104A6-B936-43E0-B157-D1EA29F4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2FC26-156B-4569-8496-72027A14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clocking block은 race를 줄이고 sampling 의도를 문서화합니다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8BE5E-33BE-4CBA-A0A4-742FFD22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8BE93-3F5A-48A6-A4D2-8C2361AB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1EF9F-92BF-482E-A0E0-5F9F1614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54864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3843C-87C3-4FA8-9E6D-FEA213FF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1054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clocking cb @(posedge clk);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default input #1step output #0;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input  ready, data;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output valid;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endclocking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@(vif.cb);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if (vif.cb.ready) 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CA087-75EB-4376-BAA8-83324855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driver와 monitor가 같은 edge를 보더라도</a:t>
            </a:r>
          </a:p>
          <a:p xmlns:a="http://schemas.openxmlformats.org/drawingml/2006/main">
            <a:pPr algn="l">
              <a:defRPr sz="18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언제 값을 읽고 쓸지 명시하지 않으면</a:t>
            </a:r>
          </a:p>
          <a:p xmlns:a="http://schemas.openxmlformats.org/drawingml/2006/main">
            <a:pPr algn="l">
              <a:defRPr sz="18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simulator scheduling race가 남습니다.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CB063-ECEE-4322-B563-4A07FFEB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시간·샘플링 규칙은 interface/clocking block에 집중시키세요.</a:t>
            </a:r>
          </a:p>
        </p:txBody>
      </p:sp>
    </p:spTree>
    <p:extLst>
      <p:ext uri="{BB962C8B-B14F-4D97-AF65-F5344CB8AC3E}">
        <p14:creationId xmlns:p14="http://schemas.microsoft.com/office/powerpoint/2010/main" val="193066108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AB3D1-7490-4A61-A463-18EB6890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24D23-BC5F-4BFF-A8F6-15A97C12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coverage model은 기능 요구사항을 bin과 cross로 번역합니다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8097F-B868-4AC7-93C1-7F609F93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0C117-8847-4813-B827-AEC21E24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B92B4-B246-407A-9AAE-4C5AAFCF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61722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5460B-951A-4AB6-AF79-69E64F20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912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covergroup cg @(posedge clk);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cp_op: coverpoint op { bins alu[] = {[0:3]}; }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cp_len: coverpoint len { bins short={[1:4]}; bins long={[5:16]}; }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x_op_len: cross cp_op, cp_len;</a:t>
            </a:r>
          </a:p>
          <a:p xmlns:a="http://schemas.openxmlformats.org/drawingml/2006/main">
            <a:pPr algn="l">
              <a:defRPr sz="1200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endgroup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6FAB4-9E87-46BA-B1E6-EC22A906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모델링 순서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6EF45-606F-4CB9-A57D-ED3613D5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95550"/>
            <a:ext cx="3429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1. 요구사항을 문장으로 고정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2. 관찰 지점/샘플링 시점 결정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3. meaningful bin만 생성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4. illegal/ignore bin의 의미 기록</a:t>
            </a:r>
          </a:p>
        </p:txBody>
      </p:sp>
    </p:spTree>
    <p:extLst>
      <p:ext uri="{BB962C8B-B14F-4D97-AF65-F5344CB8AC3E}">
        <p14:creationId xmlns:p14="http://schemas.microsoft.com/office/powerpoint/2010/main" val="6750919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EB542-5DC9-460A-B58B-1F91B183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C63F5-F335-4215-A4E3-CB820D00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coverage closure는 숫자를 올리는 작업이 아니라 gap을 설명하는 작업입니다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EFB2D-0A0E-4C9C-B31D-B4722052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A6D9A-D5C0-4404-BAFA-66A3C0F9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5B49E-8C2E-475A-BBCC-D932930C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CB113-519B-4B36-B497-8DE016B3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954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80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805B"/>
                </a:solidFill>
                <a:latin typeface="Helvetica Neue"/>
                <a:ea typeface="Helvetica Neue"/>
                <a:cs typeface="Helvetica Neue"/>
              </a:rPr>
              <a:t>unreachable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7B1CB-3FC9-4192-AFFC-95090F2C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669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spec/architecture 근거로 waive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3762D-F1C6-4250-8BCE-444245C6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0F01D-F325-49E6-AEFB-66545EDB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A9656-B390-4EB6-AD3E-707B17F7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336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unhit but legal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3738D-6CF7-4656-AEEE-70DB002D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051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constraint·scenario·test intent 보강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510DB-DB79-4720-911D-92BF86EC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04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E7994-7AA5-4D75-8D46-333B2C2C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087F4B-27C5-4C3F-B5AB-95254ABD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718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hit but untrusted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433C5-599E-4691-9F39-1A1F1C6A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sampling / scoreboard / test quality 점검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63BBD1-9DC0-4705-8CB1-BD067469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E9026-69F0-4F82-877A-AA042FCA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20955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F1555-2AAD-40FF-B42B-13EF4F26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00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cross explosion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A88B1-8598-44E7-B1EE-E4BA079F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요구사항 기반 cross만 유지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5CE62-8129-4FF5-8A4D-11DC704C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768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7C9C3A-D457-480A-A05F-B1EA69D3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closure review에는 coverage report와 함께 test intent, seed, waiver rationale가 있어야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5641958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81056-34E3-4EE3-A640-4220ADFE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C8534-B95C-4998-AD4F-0B5B45D5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UVM RAL은 register 접근을 transaction과 prediction으로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039D7-0AA4-4E03-A1A0-293C9202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CC6B5-AA48-4408-B55B-53BED790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94B15-6CAA-4518-8095-E19F21CA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14675"/>
            <a:ext cx="1295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F0856-9748-43CA-908F-8F429F99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14675"/>
            <a:ext cx="1295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09334-2235-49EE-BA45-E08A943D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C3BE6-62BF-4FC5-AC85-9B709CB6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sequence</a:t>
            </a:r>
          </a:p>
          <a:p xmlns:a="http://schemas.openxmlformats.org/drawingml/2006/main">
            <a:pPr algn="ctr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reg.write()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DC1C1-A85B-4A2C-9FBA-A052AE90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9C78F-11F2-41AB-94E7-7C3E5997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adapter + bus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55F6E-5C73-4F2C-A0F9-C3A281EB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81250"/>
            <a:ext cx="2571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8C4AF-CBC9-49F1-B5ED-A58E5223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predictor + mirror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1613C-C674-41B0-B018-74356195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720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RAL의 핵심은 register model, bus transaction, mirror value가 일관된 상태를 유지하는 것입니다.</a:t>
            </a:r>
          </a:p>
        </p:txBody>
      </p:sp>
    </p:spTree>
    <p:extLst>
      <p:ext uri="{BB962C8B-B14F-4D97-AF65-F5344CB8AC3E}">
        <p14:creationId xmlns:p14="http://schemas.microsoft.com/office/powerpoint/2010/main" val="17368017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0A131-4942-470C-B5FC-C6889D97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7CB3E-5388-4771-99CA-686771EC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RAL frontdoor·backdoor·predict 정책을 분리해 생각합니다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237A5-8981-42B7-BDCE-E4B4CDA6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75C93-9157-49F8-B016-72AF5C04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28F46-C7A0-4003-A816-1AFF66B4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3147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6FB07-F682-4C6E-8DD4-6A8B662F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frontdoor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66A19-405A-4452-B4DB-8D19A571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857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실제 bus transaction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protocol 검증 포함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속도는 상대적으로 느림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B0823-CC42-416A-843E-65E565F4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3147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11AD5-3A08-46AD-982E-9B29E03F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backdoor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124FD-A967-4B48-BA3E-F1A8C218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2857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RTL path 직접 접근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초기화/관찰에 유용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path와 timing model 필요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CF7F1-753F-42CB-B122-0723FB8C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3147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B3767-84D9-4AB1-AB43-26F9FDDE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28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prediction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86DA9-5488-423E-AFBC-C45D5B4A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2857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auto_predict 또는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explicit predictor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side-effect를 반영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F13F9-E88A-4BFC-A951-14EB0AAA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read-clear, write-one-to-clear, volatile register는 mirror 정책을 명시적으로 검토하세요.</a:t>
            </a:r>
          </a:p>
        </p:txBody>
      </p:sp>
    </p:spTree>
    <p:extLst>
      <p:ext uri="{BB962C8B-B14F-4D97-AF65-F5344CB8AC3E}">
        <p14:creationId xmlns:p14="http://schemas.microsoft.com/office/powerpoint/2010/main" val="16821248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4C827-1337-4211-BF0A-CB4604EF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818D9-EC2B-4F03-B2E5-69D95E1B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UVM reporting은 로그량이 아니라 진단 품질을 최적화합니다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A48AB-DD07-48AD-9B64-E57CD1BC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B411E-9AFF-4F38-9A7B-368D1A3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16ABD-A28F-4116-B232-D6D31525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561975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520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B3656-17D0-4DCB-98FF-AC64CF02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238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`uvm_info("PKT",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$sformatf("id=%0d addr=%h len=%0d", id, addr, len),</a:t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  UVM_MEDIUM)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AF3FA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AF3FA"/>
                </a:solidFill>
                <a:latin typeface="Menlo"/>
                <a:ea typeface="Menlo"/>
                <a:cs typeface="Menlo"/>
              </a:rPr>
              <a:t>`uvm_error("SB_MISMATCH", diff_msg)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8F9D0-81F6-45BC-B792-4E58E0B0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좋은 메시지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188A1-DC21-4B94-B4C4-A997356D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원인 분류 ID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transaction 식별자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expected/actual diff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시간·stream·epoch</a:t>
            </a:r>
          </a:p>
          <a:p xmlns:a="http://schemas.openxmlformats.org/drawingml/2006/main">
            <a:pPr algn="l">
              <a:def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재현에 필요한 seed/config</a:t>
            </a:r>
          </a:p>
        </p:txBody>
      </p:sp>
    </p:spTree>
    <p:extLst>
      <p:ext uri="{BB962C8B-B14F-4D97-AF65-F5344CB8AC3E}">
        <p14:creationId xmlns:p14="http://schemas.microsoft.com/office/powerpoint/2010/main" val="77824495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922ABA-09BB-4A1D-8C72-00E859DE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CF3F7-FE3D-4C5F-8D28-D370E64D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디버그는 파형보다 transaction trace에서 먼저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325AF-EE54-40FE-8FDC-36A4A76A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01F4E-AC09-4BC5-93CC-8F58DD43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94D46-1598-46E8-913B-B9422334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2FDB9-4216-45D4-AE0A-F3A454D9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1. 재현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A0219-5987-4F38-AEA8-97845997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716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seed + test + config 고정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06569-72B4-4625-B1F3-AAB0190C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812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EB883-92B5-495E-A506-F268F12C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384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A9E81-0F09-47FF-8DD5-69144B45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2. 분류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0A0A7-6C04-45C4-97EA-67B0D130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574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assertion / driver / monitor / checker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65A4A-555E-46B4-B130-80A34F65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670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4AAAC-43BD-4880-97CA-78C137A6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242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A305F-BD88-404F-8B39-DEEB2749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3. 추적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05B90-620F-4BCE-AD50-2CF8A0E1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request→response→compare timeline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F07ED-33A0-428E-943C-D7C2350F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528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99B0F-2BC7-4198-B22C-03FD475A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671D1-EB95-48DA-90B7-4523992E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4. 축소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333FA-55CC-41FA-BF53-F6051D58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29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최소 sequence·최소 traffic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75423B-1EC2-4B5B-B929-4EA91C1E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86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0FC5C-14A2-418D-B2A5-2812984D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958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69DC55-7143-4F2F-9FC8-1B221F0F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5. 방지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5ED478-953B-4835-90BE-BC6EC462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148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assertion·coverage·regression test 추가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131C7A-55A6-41A3-8E2C-0BA1F627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244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109637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AA9C5-0459-475E-89FC-DA434EE9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95A4E-9593-46B0-9A52-8A2FBA1E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성능 병목은 대개 불필요한 세부 관찰과 객체 생성에서 시작합니다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2CDD8-39B3-481E-A26B-6115A41E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69385-A2F7-4D20-AE5D-5AA9E92F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5BE47-096E-40A6-9CDB-8AB4A3BB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AB6F5-CD6A-462B-B693-8B351146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측정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FC781-73FE-4881-9CF3-72946D62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8765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per-test runtime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transaction throughput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coverage merge time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peak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85B91-A24A-47C7-8654-A3B5145C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44F86-6932-406F-872C-777D60E8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개선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9E7C6-9470-416D-AC09-BF410011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8765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trace verbosity 조절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샘플링 비용 절감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복사/format 최소화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parallel regression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A2107-D47F-49D4-8BBB-44E25CEF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33337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8C9D9-5811-4B2B-80FA-FE55E705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288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주의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C10AC-5E7A-4E7B-8AF5-6FC26E98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8765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성능 최적화로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check·coverage·determinism을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훼손하지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119506340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0631F-A039-484F-8257-E37FBA93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3C0A1-3008-42FB-A5D8-B7C2CCD7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regression은 테스트 모음이 아니라 위험 모델입니다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D1A33-A273-44B3-9726-BB42BE70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5A87B-57DA-4402-98A3-544DEF8D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56CA5-22B2-4109-8C0D-4D7323E8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3333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32F67-3783-44B2-868B-632BC83B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smoke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4EB47-010F-45E0-8FF3-E863ECED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빌드·기본 연결·핵심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2F335-B757-4361-A465-D6BC5795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3333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A4438-FEDE-4FDD-9ACF-E6C18601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336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feature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FC3C0-7C69-49BD-933D-AE1F4D75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28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요구사항과 error handling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F4969-EDD8-46A2-A002-2365C93E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05000"/>
            <a:ext cx="3333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41A3C-F379-4EA0-88E6-02F4ED58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random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51334-9570-42E3-8B66-C8FE5CB2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broad exploration +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522D0-2EDA-4C23-9B7A-1583A291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3333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3B54D-D604-48F9-B940-41B876C6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stress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BFD96-B466-4E8A-8BF5-1E30197F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장시간·concurrency·resource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3BE65-550F-45BC-BC77-0E13F622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24250"/>
            <a:ext cx="3333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D7073-068F-4EFA-A313-1BC31C87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5285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nightly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CA15A2-67C3-418E-8BE3-492D93B8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481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merge·coverage·trend·triage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CC129B-2AD2-454B-88B0-7B2A4A7D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각 test는 하나의 실패 의도를 가져야 합니다. 이름만 다른 random test의 증식은 triage 비용을 키웁니다.</a:t>
            </a:r>
          </a:p>
        </p:txBody>
      </p:sp>
    </p:spTree>
    <p:extLst>
      <p:ext uri="{BB962C8B-B14F-4D97-AF65-F5344CB8AC3E}">
        <p14:creationId xmlns:p14="http://schemas.microsoft.com/office/powerpoint/2010/main" val="83517601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95297-894D-4B12-B8DD-13648FF7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30A82-086B-4A76-A72C-96AD9F69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환경 재사용성은 ‘수정 없이 다른 곳에서 쓰이는가’로 측정됩니다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6CE86-F4D8-427D-8352-98B0E339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191A1-E1AC-4774-86EA-D52DE3B8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149FF-CE26-497B-8870-ACFF095E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3333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BBFB9-DABD-486F-BCE5-7312420C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재사용 가능한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77FC8-4692-4AF9-8FE0-38346C20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agent / sequence item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protocol checker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coverage collector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register 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D3FDC-94ED-4213-B08B-CBABCF99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3333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DDC21-89E1-4382-963C-BD150964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98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상위가 주입할 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3D5DA-3BE2-47D2-A9E6-73FC2038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051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config / policy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address map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virtual interface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feature enable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BC283-1266-4533-9047-1EDFC8C9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81200"/>
            <a:ext cx="33337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DC585-D436-4CD0-A238-FFD1740D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피할 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6AB26-54AF-476D-81E2-65BDC6D9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hierarchical poke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global singleton state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DUT 이름 의존</a:t>
            </a:r>
          </a:p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테스트 전용 ifdef</a:t>
            </a:r>
          </a:p>
        </p:txBody>
      </p:sp>
    </p:spTree>
    <p:extLst>
      <p:ext uri="{BB962C8B-B14F-4D97-AF65-F5344CB8AC3E}">
        <p14:creationId xmlns:p14="http://schemas.microsoft.com/office/powerpoint/2010/main" val="110499825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7EF435-DDB2-4A9E-9037-7200982E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UVM · SYSTEMVERILOG 실무 가이드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3A16B-EB65-42CA-BDB3-CA419E2A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14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실무 체크리스트: 새 환경을 리뷰할 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CD830-C030-432F-8686-3592C9C0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27242-E02B-48DA-801D-55C91DB5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43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0B5E3-014F-42A6-A9A5-188E53FE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14668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A832D-55DB-4B3D-AD9C-17F98E36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구조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40C90-C78C-48C0-B337-02BD100E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335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active/passive, config, factory 경계가 명확한가?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30C3A-96AA-4D2B-A76A-BC680341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46BBA-674C-4A30-AE97-04F26CEF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14668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B7406-98AF-45F1-902C-59249EB7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1457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자극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228BD-23FF-429B-AB98-D5088B7B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8600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constraint·seed·종료 조건이 설명 가능한가?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710F3-690C-42ED-926C-480230EF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2890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57165-8A4F-455A-96C2-9D0E6DD9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19400"/>
            <a:ext cx="14668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63B78-6F10-4963-A218-684991E5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6702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관찰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D9794-76DD-4FCF-BC4B-ED902D46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84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clocking/reset/transaction reconstruction이 일관적인가?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5F1BC-0B58-4E68-9CD3-A2999B79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813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583CB-A4EB-4D39-B6FA-C595FF6F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14668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0A28D-35AA-40FB-9C39-7148F5CA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1947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판정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1EE4F-D766-4EE0-921C-C5F2ACE2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9090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ordering·timeout·drain·error message 정책이 있는가?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A7DC3-1497-433C-8259-D6E50CFD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522DF-1B4B-4EBD-813C-87D42E84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14668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E240B0-C1A4-454B-9774-56CB19DA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7192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완결성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08BBF3-B4CA-48A7-8530-E29757BF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433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SVA·coverage·waiver·regression risk가 연결되는가?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306AB2-BBFD-4776-ACFA-C22C5300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550AC0-823C-464F-A0AA-AAB5119C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14668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0F428-6BA8-4AD8-BF4A-395170D9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24375"/>
            <a:ext cx="1466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유지보수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C71D14-AC74-4502-974C-B4128938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trace, performance, version, documentation이 준비됐는가?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C00F18-19B1-4E8D-AE13-5ED0E541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38700"/>
            <a:ext cx="10210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D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35235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D7C57-6E3C-4494-9BEB-1B49C919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52500"/>
            <a:ext cx="1000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좋은 UVM 환경은</a:t>
            </a:r>
          </a:p>
          <a:p xmlns:a="http://schemas.openxmlformats.org/drawingml/2006/main">
            <a:pPr algn="l">
              <a:defRPr sz="42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01318"/>
                </a:solidFill>
                <a:latin typeface="Helvetica Neue"/>
                <a:ea typeface="Helvetica Neue"/>
                <a:cs typeface="Helvetica Neue"/>
              </a:rPr>
              <a:t>변경이 와도 ‘어디를 바꿔야 하는지’가 보입니다.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8FE9F-462E-47D0-9CB3-3146068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19400"/>
            <a:ext cx="542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D315D-9B5D-4FBE-B3AE-00DE3739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다음 단계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889DF-8281-4DF8-B0F0-E2FA9C8F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619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1. 현재 scoreboard의 매칭 정책을 문서화</a:t>
            </a:r>
          </a:p>
          <a:p xmlns:a="http://schemas.openxmlformats.org/drawingml/2006/main">
            <a:pPr algn="l">
              <a:defRPr sz="17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2. reset epoch와 drain 조건을 점검</a:t>
            </a:r>
          </a:p>
          <a:p xmlns:a="http://schemas.openxmlformats.org/drawingml/2006/main">
            <a:pPr algn="l">
              <a:defRPr sz="17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3. coverage gap 하나를 test intent까지 추적</a:t>
            </a:r>
          </a:p>
          <a:p xmlns:a="http://schemas.openxmlformats.org/drawingml/2006/main">
            <a:pPr algn="l">
              <a:defRPr sz="17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4. failing seed를 단일 scenario로 축소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9C3D1-5666-4375-B2CC-9C36D66C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19500"/>
            <a:ext cx="25241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D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739D6-1FEA-4090-81A8-9B61179D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43350"/>
            <a:ext cx="200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구조화된</a:t>
            </a:r>
          </a:p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검증은</a:t>
            </a:r>
          </a:p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디버깅 시간을</a:t>
            </a:r>
          </a:p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줄입니다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D5149-AB39-4EEE-B167-5EA0B3A4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198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572724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2026-07-30T00:02:30.4920000Z</dcterms:created>
  <dcterms:modified xsi:type="dcterms:W3CDTF">2026-07-30T00:02:30.4920000Z</dcterms:modified>
</coreProperties>
</file>