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4b810d208c44af" /><Relationship Type="http://schemas.openxmlformats.org/officeDocument/2006/relationships/extended-properties" Target="/docProps/app.xml" Id="R13f78a2c9bf14ce0" /><Relationship Type="http://schemas.openxmlformats.org/officeDocument/2006/relationships/officeDocument" Target="/ppt/presentation.xml" Id="R944bf3d361d04b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d77febd3bf481e"/>
  </p:sldMasterIdLst>
  <p:notesMasterIdLst>
    <p:notesMasterId xmlns:r="http://schemas.openxmlformats.org/officeDocument/2006/relationships" r:id="R138a33193425461f"/>
  </p:notesMasterIdLst>
  <p:sldIdLst>
    <p:sldId xmlns:r="http://schemas.openxmlformats.org/officeDocument/2006/relationships" id="256" r:id="R81b7fee2b1c34a05"/>
    <p:sldId xmlns:r="http://schemas.openxmlformats.org/officeDocument/2006/relationships" id="257" r:id="R0d93261503c14ef3"/>
    <p:sldId xmlns:r="http://schemas.openxmlformats.org/officeDocument/2006/relationships" id="258" r:id="Reb425b5c3a6d44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c0ce68394649b9" /><Relationship Type="http://schemas.openxmlformats.org/officeDocument/2006/relationships/slideMaster" Target="/ppt/slideMasters/slideMaster1.xml" Id="Rd6d77febd3bf481e" /><Relationship Type="http://schemas.openxmlformats.org/officeDocument/2006/relationships/notesMaster" Target="/ppt/notesMasters/notesMaster1.xml" Id="R138a33193425461f" /><Relationship Type="http://schemas.openxmlformats.org/officeDocument/2006/relationships/presProps" Target="/ppt/presProps.xml" Id="Rda79bfc70f0a4eb7" /><Relationship Type="http://schemas.openxmlformats.org/officeDocument/2006/relationships/tableStyles" Target="/ppt/tableStyles.xml" Id="R76851bed7b9648ca" /><Relationship Type="http://schemas.openxmlformats.org/officeDocument/2006/relationships/slide" Target="/ppt/slides/slide1.xml" Id="R81b7fee2b1c34a05" /><Relationship Type="http://schemas.openxmlformats.org/officeDocument/2006/relationships/slide" Target="/ppt/slides/slide2.xml" Id="R0d93261503c14ef3" /><Relationship Type="http://schemas.openxmlformats.org/officeDocument/2006/relationships/slide" Target="/ppt/slides/slide3.xml" Id="Reb425b5c3a6d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2071ea1a144a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DC Technical Grid">
      <a:dk1>
        <a:srgbClr val="000000"/>
      </a:dk1>
      <a:lt1>
        <a:srgbClr val="FFFFFF"/>
      </a:lt1>
      <a:dk2>
        <a:srgbClr val="14345B"/>
      </a:dk2>
      <a:lt2>
        <a:srgbClr val="EDEDED"/>
      </a:lt2>
      <a:accent1>
        <a:srgbClr val="3D8DFF"/>
      </a:accent1>
      <a:accent2>
        <a:srgbClr val="6DCBF4"/>
      </a:accent2>
      <a:accent3>
        <a:srgbClr val="D63C3C"/>
      </a:accent3>
      <a:accent4>
        <a:srgbClr val="187A55"/>
      </a:accent4>
      <a:accent5>
        <a:srgbClr val="14345B"/>
      </a:accent5>
      <a:accent6>
        <a:srgbClr val="7357C7"/>
      </a:accent6>
      <a:hlink>
        <a:srgbClr val="3D8DFF"/>
      </a:hlink>
      <a:folHlink>
        <a:srgbClr val="7357C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DC Technical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b2883661184f24" /><Relationship Type="http://schemas.openxmlformats.org/officeDocument/2006/relationships/notesMaster" Target="/ppt/notesMasters/notesMaster1.xml" Id="R26ae292fea6744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03d6dfe61a464f" /><Relationship Type="http://schemas.openxmlformats.org/officeDocument/2006/relationships/notesMaster" Target="/ppt/notesMasters/notesMaster1.xml" Id="Rbc5588ba12c546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b4f85f942740bf" /><Relationship Type="http://schemas.openxmlformats.org/officeDocument/2006/relationships/notesMaster" Target="/ppt/notesMasters/notesMaster1.xml" Id="R48796200c3d541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2FF는 메타안정성이 후단으로 전파될 확률을 낮추는 구조이며, 이벤트 전달이나 bus coherency를 자동으로 보장하지 않는다.</a:t>
            </a:r>
          </a:p>
          <a:p xmlns:a="http://schemas.openxmlformats.org/drawingml/2006/main">
            <a:r>
              <a:t>4-phase handshake의 순서는 req 상승, ack 상승, req 하강, ack 하강이다. source는 전송 중 data를 유지하고 한 번의 full handshake가 끝난 뒤 다음 transaction을 시작한다.</a:t>
            </a:r>
          </a:p>
          <a:p xmlns:a="http://schemas.openxmlformats.org/drawingml/2006/main">
            <a:r>
              <a:t>Asynchronous FIFO는 local binary pointer와 CDC용 Gray pointer, full/empty 비교를 통해 두 clock domain의 rate를 분리한다. flag는 pointer synchronization 지연 때문에 보수적으로 반영될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https://www.sunburst-design.com/papers/CummingsSNUG2008Boston_CDC.pdf</a:t>
            </a:r>
          </a:p>
          <a:p xmlns:a="http://schemas.openxmlformats.org/drawingml/2006/main">
            <a:r>
              <a:t>- https://www.sunburst-design.com/papers/CummingsSNUG2002SJ_FIFO1.pdf</a:t>
            </a:r>
          </a:p>
          <a:p xmlns:a="http://schemas.openxmlformats.org/drawingml/2006/main">
            <a:r>
              <a:t>- https://docs.amd.com/r/2021.1-English/ug953-vivado-7series-libraries/XPM_CDC_SINGLE</a:t>
            </a:r>
          </a:p>
          <a:p xmlns:a="http://schemas.openxmlformats.org/drawingml/2006/main">
            <a:r>
              <a:t>- https://docs.amd.com/r/en-US/pg382-xpm-cdc-generator/XPM_CDC_ARRAY_SINGLE</a:t>
            </a:r>
          </a:p>
          <a:p xmlns:a="http://schemas.openxmlformats.org/drawingml/2006/main">
            <a:r>
              <a:t>- https://docs.amd.com/r/en-US/pg382-xpm-cdc-generator/XPM_CDC_HANDSHAKE</a:t>
            </a:r>
          </a:p>
          <a:p xmlns:a="http://schemas.openxmlformats.org/drawingml/2006/main">
            <a:r>
              <a:t>- https://docs.amd.com/r/en-US/ug1353-versal-architecture-ai-libraries/XPM_FIFO_ASYNC</a:t>
            </a:r>
          </a:p>
          <a:p xmlns:a="http://schemas.openxmlformats.org/drawingml/2006/main">
            <a:r>
              <a:t>- https://www.intel.com/content/www/us/en/docs/programmable/683068/18-1/metastability-analysis.html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지연 값은 두 클럭의 위상, synchronizer depth, memory read mode에 따라 달라지므로 절대 cycle 수가 아니라 구성 요소로 해석한다.</a:t>
            </a:r>
          </a:p>
          <a:p xmlns:a="http://schemas.openxmlformats.org/drawingml/2006/main">
            <a:r>
              <a:t>2FF의 destination output은 첫 stage가 transition을 포착한 다음 stage에서 유효해진다. 추가 stage는 resolve 시간을 늘려 MTBF를 개선하지만 latency도 증가시킨다.</a:t>
            </a:r>
          </a:p>
          <a:p xmlns:a="http://schemas.openxmlformats.org/drawingml/2006/main">
            <a:r>
              <a:t>Handshake는 정확한 전달과 backpressure를 제공하지만 full four-phase roundtrip 동안 새 transaction을 막는다. 높은 steady-state bandwidth가 필요하면 FIFO가 더 적합하다.</a:t>
            </a:r>
          </a:p>
          <a:p xmlns:a="http://schemas.openxmlformats.org/drawingml/2006/main">
            <a:r>
              <a:t>직접 만든 asynchronous FIFO는 Gray pointer 경로에 skew와 net-delay constraint를 적용해야 한다. 단순 set_clock_groups만으로 기능 안전성이 증명되지는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https://www.sunburst-design.com/papers/CummingsSNUG2008Boston_CDC.pdf</a:t>
            </a:r>
          </a:p>
          <a:p xmlns:a="http://schemas.openxmlformats.org/drawingml/2006/main">
            <a:r>
              <a:t>- https://www.sunburst-design.com/papers/CummingsSNUG2002SJ_FIFO1.pdf</a:t>
            </a:r>
          </a:p>
          <a:p xmlns:a="http://schemas.openxmlformats.org/drawingml/2006/main">
            <a:r>
              <a:t>- https://docs.amd.com/r/2021.1-English/ug953-vivado-7series-libraries/XPM_CDC_SINGLE</a:t>
            </a:r>
          </a:p>
          <a:p xmlns:a="http://schemas.openxmlformats.org/drawingml/2006/main">
            <a:r>
              <a:t>- https://docs.amd.com/r/en-US/pg382-xpm-cdc-generator/XPM_CDC_ARRAY_SINGLE</a:t>
            </a:r>
          </a:p>
          <a:p xmlns:a="http://schemas.openxmlformats.org/drawingml/2006/main">
            <a:r>
              <a:t>- https://docs.amd.com/r/en-US/pg382-xpm-cdc-generator/XPM_CDC_HANDSHAKE</a:t>
            </a:r>
          </a:p>
          <a:p xmlns:a="http://schemas.openxmlformats.org/drawingml/2006/main">
            <a:r>
              <a:t>- https://docs.amd.com/r/en-US/ug1353-versal-architecture-ai-libraries/XPM_FIFO_ASYNC</a:t>
            </a:r>
          </a:p>
          <a:p xmlns:a="http://schemas.openxmlformats.org/drawingml/2006/main">
            <a:r>
              <a:t>- https://www.intel.com/content/www/us/en/docs/programmable/683082/22-1/dual-clock-fifo-timing-constraints.html</a:t>
            </a:r>
          </a:p>
          <a:p xmlns:a="http://schemas.openxmlformats.org/drawingml/2006/main">
            <a:r>
              <a:t>- https://www.intel.com/content/www/us/en/docs/programmable/683068/18-1/metastability-analysis.html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Reconvergence CDC는 두 개 이상의 비동기/동기화 경로가 destination logic에서 다시 결합되는 구조다. 각 synchronizer가 개별적으로 안전해도 확정 cycle이 달라질 수 있어 correlated signal의 조합 일관성이 깨진다.</a:t>
            </a:r>
          </a:p>
          <a:p xmlns:a="http://schemas.openxmlformats.org/drawingml/2006/main">
            <a:r>
              <a:t>대표 유형: (1) 하나의 source signal이 여러 synchronizer path로 fan-out 후 reconverge, (2) 함께 바뀌는 bus/control bits를 독립 동기화 후 decode, (3) data와 enable이 서로 다른 CDC latency를 거쳐 결합, (4) 여러 source clock의 신호가 같은 destination cone으로 fan-in.</a:t>
            </a:r>
          </a:p>
          <a:p xmlns:a="http://schemas.openxmlformats.org/drawingml/2006/main">
            <a:r>
              <a:t>예의 01→10 전이는 실제 source에서 두 bit가 함께 바뀌어도 destination에서 01→11→10 또는 01→00→10으로 보일 수 있다. 11/00이 illegal state거나 enable decode 조건이면 spurious pulse 또는 FSM 오동작이 생긴다.</a:t>
            </a:r>
          </a:p>
          <a:p xmlns:a="http://schemas.openxmlformats.org/drawingml/2006/main">
            <a:r>
              <a:t>완화는 synchronizer 수를 늘리는 것이 아니라 atomicity를 보존하는 protocol/encoding을 선택하는 것이다. Static CDC tool로 reconvergence/fan-out/multi-clock fan-in을 찾고, formal/SVA 및 randomized clock phase simulation으로 기능 규약을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https://www.sunburst-design.com/papers/CummingsSNUG2008Boston_CDC.pdf</a:t>
            </a:r>
          </a:p>
          <a:p xmlns:a="http://schemas.openxmlformats.org/drawingml/2006/main">
            <a:r>
              <a:t>- https://docs.amd.com/r/en-US/pg382-xpm-cdc-generator/XPM_CDC_ARRAY_SINGLE</a:t>
            </a:r>
          </a:p>
          <a:p xmlns:a="http://schemas.openxmlformats.org/drawingml/2006/main">
            <a:r>
              <a:t>- https://www.synopsys.com/content/dam/synopsys/verification/white-papers/achieving-cdc-signoff-with-hier-cdc-flow-wp.pdf</a:t>
            </a:r>
          </a:p>
          <a:p xmlns:a="http://schemas.openxmlformats.org/drawingml/2006/main">
            <a:r>
              <a:t>- https://docs.amd.com/r/en-US/ug906-vivado-design-analysis/CDC-Rules-Precedence</a:t>
            </a:r>
          </a:p>
          <a:p xmlns:a="http://schemas.openxmlformats.org/drawingml/2006/main">
            <a:r>
              <a:t>- https://www.intel.com/content/www/us/en/docs/programmable/683082/22-1/dual-clock-fifo-timing-constraints.html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f360a772142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f3a8cc05744668" /><Relationship Type="http://schemas.openxmlformats.org/officeDocument/2006/relationships/slideLayout" Target="/ppt/slideLayouts/slideLayout1.xml" Id="R88f9021921ce46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f9021921ce46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DC Technical Grid">
      <a:dk1>
        <a:srgbClr val="000000"/>
      </a:dk1>
      <a:lt1>
        <a:srgbClr val="FFFFFF"/>
      </a:lt1>
      <a:dk2>
        <a:srgbClr val="14345B"/>
      </a:dk2>
      <a:lt2>
        <a:srgbClr val="EDEDED"/>
      </a:lt2>
      <a:accent1>
        <a:srgbClr val="3D8DFF"/>
      </a:accent1>
      <a:accent2>
        <a:srgbClr val="6DCBF4"/>
      </a:accent2>
      <a:accent3>
        <a:srgbClr val="D63C3C"/>
      </a:accent3>
      <a:accent4>
        <a:srgbClr val="187A55"/>
      </a:accent4>
      <a:accent5>
        <a:srgbClr val="14345B"/>
      </a:accent5>
      <a:accent6>
        <a:srgbClr val="7357C7"/>
      </a:accent6>
      <a:hlink>
        <a:srgbClr val="3D8DFF"/>
      </a:hlink>
      <a:folHlink>
        <a:srgbClr val="7357C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DC Technical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02680e2084e6b" /><Relationship Type="http://schemas.openxmlformats.org/officeDocument/2006/relationships/notesSlide" Target="/ppt/notesSlides/notesSlide1.xml" Id="R0ed21035838b4a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259fee30245a8" /><Relationship Type="http://schemas.openxmlformats.org/officeDocument/2006/relationships/notesSlide" Target="/ppt/notesSlides/notesSlide2.xml" Id="R4107763cd32c45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65ab1f9464da6" /><Relationship Type="http://schemas.openxmlformats.org/officeDocument/2006/relationships/notesSlide" Target="/ppt/notesSlides/notesSlide3.xml" Id="R08b5793b106340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525EE205-1B9A-4590-84A8-C6473420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CDC는 신호의 성격과 트래픽에 맞춰 선택한다</a:t>
            </a:r>
          </a:p>
        </p:txBody>
      </p:sp>
      <p:sp>
        <p:nvSpPr>
          <p:cNvPr id="2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DC2AF455-836E-4A2E-BE11-16DD11F0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단일 상태는 2FF, 손실 없는 단건 전송은 4-phase handshake, 연속 데이터는 asynchronous FIFO가 기본 출발점이다.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BDB7D-8375-49D1-9CAB-F1A56CAB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D82E7-13FA-4AE7-87CD-F54FA2C1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9525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D034A-BC27-490C-B025-11D01DC7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9525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70540-079C-4DF6-AE50-173900E6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2FF Synchronizer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68D58-C818-416B-A251-6ECAD7E3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62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1-bit level · 최소 비용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94B99-98F9-4CAD-84F8-4EEA02D2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685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8C51E-4C0F-4D6B-9FEE-72D24690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31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11317"/>
                </a:solidFill>
                <a:latin typeface="Menlo"/>
                <a:ea typeface="Menlo"/>
                <a:cs typeface="Menlo"/>
              </a:rPr>
              <a:t>SRC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650C6-1FF9-4E24-ABC3-B720617C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38425"/>
            <a:ext cx="685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B2A99-274B-4B49-82D5-A08D6CE3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14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4345B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4345B"/>
                </a:solidFill>
                <a:latin typeface="Menlo"/>
                <a:ea typeface="Menlo"/>
                <a:cs typeface="Menlo"/>
              </a:rPr>
              <a:t>FF1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8C60A-C9A7-4C88-9D3C-03EF69E7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38425"/>
            <a:ext cx="685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93329-2D35-4661-A497-C6765019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4345B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4345B"/>
                </a:solidFill>
                <a:latin typeface="Menlo"/>
                <a:ea typeface="Menlo"/>
                <a:cs typeface="Menlo"/>
              </a:rPr>
              <a:t>FF2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C1E4B-C9ED-44A2-936C-9B9B7F60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38425"/>
            <a:ext cx="685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123D2-AAB2-44DB-9A97-155381EB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14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31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11317"/>
                </a:solidFill>
                <a:latin typeface="Menlo"/>
                <a:ea typeface="Menlo"/>
                <a:cs typeface="Menlo"/>
              </a:rPr>
              <a:t>DST</a:t>
            </a:r>
          </a:p>
        </p:txBody>
      </p:sp>
      <p:cxnSp>
        <p:nvCxnSpPr>
          <p:cNvPr id="8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38250" y="28956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124075" y="28956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009900" y="28956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0B9E6-FB97-4608-9162-3CF7229C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9616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59616C"/>
                </a:solidFill>
                <a:latin typeface="Menlo"/>
                <a:ea typeface="Menlo"/>
                <a:cs typeface="Menlo"/>
              </a:rPr>
              <a:t>metastability containment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0AE3F-24D3-44FC-866A-1CB0E09E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57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19699-67CF-47AB-9AAA-100ACC02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38550"/>
            <a:ext cx="3152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8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입력은 목적 클럭에 2회 이상 안정적으로 샘플되어야 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E95006-CF25-4181-B37A-9382AB83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57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19727-6C31-4157-8321-18843F01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71950"/>
            <a:ext cx="3152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8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2개 목적지 sample stage; stage 추가 시 MTBF↑·latency↑.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E7260-EC60-4A63-ABFA-D602C1F9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2025"/>
            <a:ext cx="57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B288E-CBD5-477F-8575-1DDC0254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3152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8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짧은 pulse·multi-bit bus·상관 신호 결합에는 부적합하다.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96C25-BE5C-4334-9C3B-CC1CA631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3314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rPr>
              <a:t>추천: mode/status/config 같은 저속 단일 비트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CE103-F681-458C-A02A-DD3441A3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4-phase Handshake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5A6264-9BB4-4DC0-A02C-842980BE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62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req / ack · lossless transaction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6AB29C-480B-44DB-8AF7-FBFCEC18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028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1EFEF-CE53-4FF8-9062-99A2832C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76525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SOURCE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2D79C9-26D1-4C02-B34C-1650025B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0325"/>
            <a:ext cx="1028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CA96A-A60E-40EA-AD71-489540F8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76525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DEST</a:t>
            </a:r>
          </a:p>
        </p:txBody>
      </p:sp>
      <p:cxnSp>
        <p:nvCxnSpPr>
          <p:cNvPr id="97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486400" y="2905125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31" idx="2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H="1">
            <a:off x="4972050" y="3209925"/>
            <a:ext cx="2247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16C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F98C18-BD3C-492F-B019-05681545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812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3D8DFF"/>
                </a:solidFill>
                <a:latin typeface="Menlo"/>
                <a:ea typeface="Menlo"/>
                <a:cs typeface="Menlo"/>
              </a:rPr>
              <a:t>req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D8B191-BD18-4481-AD2B-FCC96430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956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9616C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59616C"/>
                </a:solidFill>
                <a:latin typeface="Menlo"/>
                <a:ea typeface="Menlo"/>
                <a:cs typeface="Menlo"/>
              </a:rPr>
              <a:t>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F3300D-8E25-40E1-910E-CBAEB789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1470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9616C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59616C"/>
                </a:solidFill>
                <a:latin typeface="Menlo"/>
                <a:ea typeface="Menlo"/>
                <a:cs typeface="Menlo"/>
              </a:rPr>
              <a:t>req↑  →  ack↑  →  req↓  →  ack↓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675660-EA72-4170-B237-66AD936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5225"/>
            <a:ext cx="57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A7F61B-DD7D-474D-AFAA-329CC9A6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38550"/>
            <a:ext cx="3152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8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데이터를 hold한 채 요청하고, 목적지가 수신을 확인한다.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6257B9-FAE1-459E-8822-77FA27E3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38625"/>
            <a:ext cx="57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7C71EA-D540-4A30-A1C3-6178E894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71950"/>
            <a:ext cx="3152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8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backpressure와 lossless 전달에 유리하지만 왕복 지연이 크다.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AB611E-AD84-4AD9-9E75-0E6E5FE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72025"/>
            <a:ext cx="57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EC8E9A-23DA-4CE0-AD55-865EAF6F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05350"/>
            <a:ext cx="3152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8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full handshake 완료 전에는 다음 전송을 시작할 수 없다.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7BC834-B10E-474F-A326-FB47D904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57850"/>
            <a:ext cx="3314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rPr>
              <a:t>추천: 드문 command/event 또는 한 건의 안정된 bus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66FFA8-8F4F-4104-AC37-27BA5AB9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Asynchronous FIFO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6AC149-2579-4C6E-9A21-9B7AE9CB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62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 / burst · rate decoupling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BEDF7F-B130-4CAA-BCE8-47263062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685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274709-CB03-49D1-A465-7B8CEFA8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765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WR</a:t>
            </a:r>
          </a:p>
          <a:p xmlns:a="http://schemas.openxmlformats.org/drawingml/2006/main">
            <a:pPr algn="ctr">
              <a:defRPr sz="12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CLK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78D941-74FF-417D-9B9E-80161261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05075"/>
            <a:ext cx="914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77E776-2A90-4EA8-9D57-AC904E1D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8127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rPr>
              <a:t>FIFO</a:t>
            </a:r>
          </a:p>
          <a:p xmlns:a="http://schemas.openxmlformats.org/drawingml/2006/main">
            <a:pPr algn="ctr">
              <a:defRPr sz="1350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rPr>
              <a:t>RAM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40BB9A-EE25-45FB-BCEE-30E92061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0325"/>
            <a:ext cx="685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466097-862B-4D0C-B24D-031797F3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765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RD</a:t>
            </a:r>
          </a:p>
          <a:p xmlns:a="http://schemas.openxmlformats.org/drawingml/2006/main">
            <a:pPr algn="ctr">
              <a:defRPr sz="12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CLK</a:t>
            </a:r>
          </a:p>
        </p:txBody>
      </p:sp>
      <p:cxnSp>
        <p:nvCxnSpPr>
          <p:cNvPr id="117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877300" y="29051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49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10287000" y="29051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AAA329-9935-4EC7-BC18-A3640234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9616C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9616C"/>
                </a:solidFill>
                <a:latin typeface="Menlo"/>
                <a:ea typeface="Menlo"/>
                <a:cs typeface="Menlo"/>
              </a:rPr>
              <a:t>Gray ptr + full / empty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830B3B-5C88-4C9D-9F9B-AB4DC498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05225"/>
            <a:ext cx="57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6880A0-74FA-4DDA-A4EB-DAD8A9EF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38550"/>
            <a:ext cx="3152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8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dual-port storage가 두 클럭의 순간 속도 차이를 흡수한다.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ECE3D0-2C7C-4B8F-BA0A-28ABB25E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38625"/>
            <a:ext cx="57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6740C1-D2AA-4FCF-B88F-909534D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171950"/>
            <a:ext cx="3152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8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정상 구간에서는 local clock마다 1 write / 1 read가 가능하다.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14A86D-5B60-4380-BE88-DADEFE4B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72025"/>
            <a:ext cx="57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4AAC0D-B796-47F6-911E-950EF689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05350"/>
            <a:ext cx="3152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8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pointer·flag·reset·Gray skew 제약까지 함께 설계해야 한다.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8460A3-EA04-46E0-ABCE-DF155E96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57850"/>
            <a:ext cx="3314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rPr>
              <a:t>추천: 연속·버스트 multi-word 데이터와 대역폭 분리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48F7B5-B85A-4E30-B3F2-C4D80F7F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CDC TECHNIQUE SELECTION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5C0F84-F27A-48E6-B55F-7DCF2AF4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0176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7102646-C3A2-45D3-B2CD-B32B32CB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선택 기준은 데이터·손실·트래픽이다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7CDF27B2-2216-427D-BADC-7CD7DAB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동일한 CDC 문제라도 전달 단위와 보장 수준이 다르면 최적 구조가 달라진다.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78337-51A4-4AA7-977B-31D48B42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76250" y="1724025"/>
          <a:ext xmlns:a="http://schemas.openxmlformats.org/drawingml/2006/main" cx="112395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3009900"/>
                <a:gridCol w="3333750"/>
                <a:gridCol w="3429000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항목</a:t>
                      </a:r>
                    </a:p>
                  </a:txBody>
                  <a:tcPr marL="85725" marR="85725" marT="47625" marB="47625" anchor="ctr" horzOverflow="clip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2FF Synchronizer</a:t>
                      </a:r>
                    </a:p>
                  </a:txBody>
                  <a:tcPr marL="85725" marR="85725" marT="47625" marB="47625" anchor="ctr" horzOverflow="clip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4-phase Handshake</a:t>
                      </a:r>
                    </a:p>
                  </a:txBody>
                  <a:tcPr marL="85725" marR="85725" marT="47625" marB="47625" anchor="ctr" horzOverflow="clip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Asynchronous FIFO</a:t>
                      </a:r>
                    </a:p>
                  </a:txBody>
                  <a:tcPr marL="85725" marR="85725" marT="47625" marB="47625" anchor="ctr" horzOverflow="clip">
                    <a:solidFill>
                      <a:srgbClr val="14345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가장 적합한 전송</a:t>
                      </a:r>
                    </a:p>
                  </a:txBody>
                  <a:tcPr marL="85725" marR="85725" marT="47625" marB="4762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1-bit level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(mode / status)</a:t>
                      </a:r>
                    </a:p>
                  </a:txBody>
                  <a:tcPr marL="85725" marR="85725" marT="47625" marB="47625" anchor="ctr" horzOverflow="clip">
                    <a:solidFill>
                      <a:srgbClr val="DF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단건 event 또는 안정된 bus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(1 outstanding)</a:t>
                      </a:r>
                    </a:p>
                  </a:txBody>
                  <a:tcPr marL="85725" marR="85725" marT="47625" marB="47625" anchor="ctr" horzOverflow="clip">
                    <a:solidFill>
                      <a:srgbClr val="E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multi-word stream / burst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(rate decoupling)</a:t>
                      </a:r>
                    </a:p>
                  </a:txBody>
                  <a:tcPr marL="85725" marR="85725" marT="47625" marB="47625" anchor="ctr" horzOverflow="clip">
                    <a:solidFill>
                      <a:srgbClr val="DFF3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전달 보장</a:t>
                      </a:r>
                    </a:p>
                  </a:txBody>
                  <a:tcPr marL="85725" marR="85725" marT="47625" marB="4762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메타안정성 확률만 저감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pulse 포착·bus 원자성은 별도</a:t>
                      </a:r>
                    </a:p>
                  </a:txBody>
                  <a:tcPr marL="85725" marR="85725" marT="47625" marB="47625" anchor="ctr" horzOverflow="clip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req/ack로 수신 확인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lossless + backpressure</a:t>
                      </a:r>
                    </a:p>
                  </a:txBody>
                  <a:tcPr marL="85725" marR="85725" marT="47625" marB="47625" anchor="ctr" horzOverflow="clip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순서·버퍼링·full/empty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overflow/underflow 방지</a:t>
                      </a:r>
                    </a:p>
                  </a:txBody>
                  <a:tcPr marL="85725" marR="85725" marT="47625" marB="47625" anchor="ctr" horzOverflow="clip">
                    <a:solidFill>
                      <a:srgbClr val="F6F7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지연</a:t>
                      </a:r>
                    </a:p>
                  </a:txBody>
                  <a:tcPr marL="85725" marR="85725" marT="47625" marB="4762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2개 dst sample stage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위상 따라 관측 cycle 가변</a:t>
                      </a:r>
                    </a:p>
                  </a:txBody>
                  <a:tcPr marL="85725" marR="85725" marT="47625" marB="476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forward sync + 처리 + return sync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 신호 복귀: 가장 큼</a:t>
                      </a:r>
                    </a:p>
                  </a:txBody>
                  <a:tcPr marL="85725" marR="85725" marT="47625" marB="476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word는 pointer sync + read 지연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steady state는 pipeline</a:t>
                      </a:r>
                    </a:p>
                  </a:txBody>
                  <a:tcPr marL="85725" marR="85725" marT="47625" marB="47625" anchor="ctr" horzOverflow="clip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처리율</a:t>
                      </a:r>
                    </a:p>
                  </a:txBody>
                  <a:tcPr marL="85725" marR="85725" marT="47625" marB="4762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안정 구간마다 상태 변화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queue 없음</a:t>
                      </a:r>
                    </a:p>
                  </a:txBody>
                  <a:tcPr marL="85725" marR="85725" marT="47625" marB="47625" anchor="ctr" horzOverflow="clip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full handshake당 1 transaction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요청은 완료 후</a:t>
                      </a:r>
                    </a:p>
                  </a:txBody>
                  <a:tcPr marL="85725" marR="85725" marT="47625" marB="47625" anchor="ctr" horzOverflow="clip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wr_clk당 1 write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rd_clk당 1 read</a:t>
                      </a:r>
                    </a:p>
                  </a:txBody>
                  <a:tcPr marL="85725" marR="85725" marT="47625" marB="47625" anchor="ctr" horzOverflow="clip">
                    <a:solidFill>
                      <a:srgbClr val="F6F7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면적 / 구현 난도</a:t>
                      </a:r>
                    </a:p>
                  </a:txBody>
                  <a:tcPr marL="85725" marR="85725" marT="47625" marB="4762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최저: 2개 이상 FF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 source register 권장</a:t>
                      </a:r>
                    </a:p>
                  </a:txBody>
                  <a:tcPr marL="85725" marR="85725" marT="47625" marB="476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중간: 양방향 sync chain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 FSM/data hold</a:t>
                      </a:r>
                    </a:p>
                  </a:txBody>
                  <a:tcPr marL="85725" marR="85725" marT="47625" marB="476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최고: dual-port memory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 pointers/flags/synchronizers</a:t>
                      </a:r>
                    </a:p>
                  </a:txBody>
                  <a:tcPr marL="85725" marR="85725" marT="47625" marB="47625" anchor="ctr" horzOverflow="clip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필수 검증</a:t>
                      </a:r>
                    </a:p>
                  </a:txBody>
                  <a:tcPr marL="85725" marR="85725" marT="47625" marB="4762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ASYNC_REG·MTBF·source 등록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pulse width / 안정 시간</a:t>
                      </a:r>
                    </a:p>
                  </a:txBody>
                  <a:tcPr marL="85725" marR="85725" marT="47625" marB="47625" anchor="ctr" horzOverflow="clip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data stable 동안 req active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protocol·reset·deadlock assertion</a:t>
                      </a:r>
                    </a:p>
                  </a:txBody>
                  <a:tcPr marL="85725" marR="85725" marT="47625" marB="47625" anchor="ctr" horzOverflow="clip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Gray 1-bit transition·skew/net delay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flag·reset·overflow assertion</a:t>
                      </a:r>
                    </a:p>
                  </a:txBody>
                  <a:tcPr marL="85725" marR="85725" marT="47625" marB="47625" anchor="ctr" horzOverflow="clip">
                    <a:solidFill>
                      <a:srgbClr val="F6F7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대표 실패 모드</a:t>
                      </a:r>
                    </a:p>
                  </a:txBody>
                  <a:tcPr marL="85725" marR="85725" marT="47625" marB="4762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짧은 pulse 유실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독립 bus sync → incoherency</a:t>
                      </a:r>
                    </a:p>
                  </a:txBody>
                  <a:tcPr marL="85725" marR="85725" marT="47625" marB="47625" anchor="ctr" horzOverflow="clip"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data 조기 변경·중복 요청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reset mismatch → hang</a:t>
                      </a:r>
                    </a:p>
                  </a:txBody>
                  <a:tcPr marL="85725" marR="85725" marT="47625" marB="47625" anchor="ctr" horzOverflow="clip"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잘못된 full/empty·Gray skew</a:t>
                      </a:r>
                    </a:p>
                    <a:p>
                      <a:r>
                        <a:rPr sz="1613">
                          <a:solidFill>
                            <a:srgbClr val="11131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reset 중 write/read → 손실</a:t>
                      </a:r>
                    </a:p>
                  </a:txBody>
                  <a:tcPr marL="85725" marR="85725" marT="47625" marB="47625" anchor="ctr" horzOverflow="clip">
                    <a:solidFill>
                      <a:srgbClr val="FDEA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4C2C5-C41F-48EC-BD2C-16A0C7CF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CDC TECHNIQUE SELECTION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6F721-5417-4908-BF45-4D63488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953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4D72F72-5AE7-4D87-AEF9-9C3D62CC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독립 2FF는 데이터 coherency를 보장하지 않는다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DDE81868-4576-4722-874C-4B693DAF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각 경로가 메타안정성을 안전하게 가둬도, 서로 다른 cycle에 확정되면 목적지 논리는 존재하지 않았던 조합을 볼 수 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E3FCD-95AE-490B-95D3-8C44D6BF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33EEE-A175-482B-A79E-D8E07093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9525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7ED08-5DFB-4D9F-83F7-236D04DA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811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왜 reconvergence가 위험한가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91579-24F2-499C-B6C6-113E5F1E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A-domain의 2-bit 상태가 01 → 10으로 바뀌는 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3D2DB-6F94-4E72-9CFD-38908967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1620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004BD-04FD-4472-8428-C663E75E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317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11317"/>
                </a:solidFill>
                <a:latin typeface="Menlo"/>
                <a:ea typeface="Menlo"/>
                <a:cs typeface="Menlo"/>
              </a:rPr>
              <a:t>SOURCE</a:t>
            </a:r>
          </a:p>
          <a:p xmlns:a="http://schemas.openxmlformats.org/drawingml/2006/main">
            <a:pPr algn="ctr">
              <a:defRPr sz="1350" b="1" i="0">
                <a:solidFill>
                  <a:srgbClr val="111317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11317"/>
                </a:solidFill>
                <a:latin typeface="Menlo"/>
                <a:ea typeface="Menlo"/>
                <a:cs typeface="Menlo"/>
              </a:rPr>
              <a:t>01 →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EB0EA-308A-49BA-B91E-5C39D292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14600"/>
            <a:ext cx="1371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1032B-D668-4E9E-A0CA-8B4ED7BA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908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317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11317"/>
                </a:solidFill>
                <a:latin typeface="Menlo"/>
                <a:ea typeface="Menlo"/>
                <a:cs typeface="Menlo"/>
              </a:rPr>
              <a:t>bit[1]</a:t>
            </a:r>
          </a:p>
          <a:p xmlns:a="http://schemas.openxmlformats.org/drawingml/2006/main">
            <a:pPr algn="ctr">
              <a:defRPr sz="1275" b="1" i="0">
                <a:solidFill>
                  <a:srgbClr val="111317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11317"/>
                </a:solidFill>
                <a:latin typeface="Menlo"/>
                <a:ea typeface="Menlo"/>
                <a:cs typeface="Menlo"/>
              </a:rPr>
              <a:t>FF → 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86C8A-4A36-4C6B-9EEF-E7A06990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43300"/>
            <a:ext cx="1371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41D86-1703-42E7-B5B2-D461183E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195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317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11317"/>
                </a:solidFill>
                <a:latin typeface="Menlo"/>
                <a:ea typeface="Menlo"/>
                <a:cs typeface="Menlo"/>
              </a:rPr>
              <a:t>bit[0]</a:t>
            </a:r>
          </a:p>
          <a:p xmlns:a="http://schemas.openxmlformats.org/drawingml/2006/main">
            <a:pPr algn="ctr">
              <a:defRPr sz="1275" b="1" i="0">
                <a:solidFill>
                  <a:srgbClr val="111317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11317"/>
                </a:solidFill>
                <a:latin typeface="Menlo"/>
                <a:ea typeface="Menlo"/>
                <a:cs typeface="Menlo"/>
              </a:rPr>
              <a:t>FF → 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F2960-D1AD-4450-9BE3-E2BD7175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104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AEA"/>
          </a:solidFill>
          <a:ln xmlns:a="http://schemas.openxmlformats.org/drawingml/2006/main" w="11430">
            <a:solidFill>
              <a:srgbClr val="D63C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2E4D9-D907-4FE3-BEC8-6A3DC0AF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990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6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D63C3C"/>
                </a:solidFill>
                <a:latin typeface="Apple SD Gothic Neo"/>
                <a:ea typeface="Apple SD Gothic Neo"/>
                <a:cs typeface="Apple SD Gothic Neo"/>
              </a:rPr>
              <a:t>DECODE</a:t>
            </a:r>
          </a:p>
          <a:p xmlns:a="http://schemas.openxmlformats.org/drawingml/2006/main">
            <a:pPr algn="ctr">
              <a:defRPr sz="1350" b="1" i="0">
                <a:solidFill>
                  <a:srgbClr val="D6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D63C3C"/>
                </a:solidFill>
                <a:latin typeface="Apple SD Gothic Neo"/>
                <a:ea typeface="Apple SD Gothic Neo"/>
                <a:cs typeface="Apple SD Gothic Neo"/>
              </a:rPr>
              <a:t>/ FSM</a:t>
            </a:r>
          </a:p>
        </p:txBody>
      </p:sp>
      <p:cxnSp>
        <p:nvCxnSpPr>
          <p:cNvPr id="6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1714500" y="2867025"/>
            <a:ext cx="6286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714500" y="3209925"/>
            <a:ext cx="6286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14750" y="2867025"/>
            <a:ext cx="800100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714750" y="3419475"/>
            <a:ext cx="80010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39022-D08F-41F0-9481-AA8D0067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574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63C3C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D63C3C"/>
                </a:solidFill>
                <a:latin typeface="Menlo"/>
                <a:ea typeface="Menlo"/>
                <a:cs typeface="Menlo"/>
              </a:rPr>
              <a:t>skew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3ACC4-46BF-42F6-BA4E-7A1EF94E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목적지에서 관측될 수 있는 순서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0BD2F-99FC-4C57-AF4A-662EDE36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409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73A225-9086-4C7E-B00B-EDA634A0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9616C"/>
                </a:solidFill>
                <a:latin typeface="Menlo"/>
                <a:ea typeface="Menlo"/>
                <a:cs typeface="Menlo"/>
              </a:defRPr>
            </a:pPr>
            <a:r>
              <a:rPr sz="1125" b="0" i="0">
                <a:solidFill>
                  <a:srgbClr val="59616C"/>
                </a:solidFill>
                <a:latin typeface="Menlo"/>
                <a:ea typeface="Menlo"/>
                <a:cs typeface="Menlo"/>
              </a:rPr>
              <a:t>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03E97-C2EC-4457-90BB-35C8768D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317"/>
                </a:solidFill>
                <a:latin typeface="Menlo"/>
                <a:ea typeface="Menlo"/>
                <a:cs typeface="Menlo"/>
              </a:defRPr>
            </a:pPr>
            <a:r>
              <a:rPr sz="1575" b="1" i="0">
                <a:solidFill>
                  <a:srgbClr val="111317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A48E3-011F-470F-999A-832505A5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05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EA734-0CDD-4346-A1E7-B3720E17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14900"/>
            <a:ext cx="1409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DEAEA"/>
          </a:solidFill>
          <a:ln xmlns:a="http://schemas.openxmlformats.org/drawingml/2006/main" w="19050">
            <a:solidFill>
              <a:srgbClr val="D63C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D0F973-B547-48CF-B392-BA842E11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9616C"/>
                </a:solidFill>
                <a:latin typeface="Menlo"/>
                <a:ea typeface="Menlo"/>
                <a:cs typeface="Menlo"/>
              </a:defRPr>
            </a:pPr>
            <a:r>
              <a:rPr sz="1125" b="0" i="0">
                <a:solidFill>
                  <a:srgbClr val="59616C"/>
                </a:solidFill>
                <a:latin typeface="Menlo"/>
                <a:ea typeface="Menlo"/>
                <a:cs typeface="Menlo"/>
              </a:rPr>
              <a:t>n + 1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1A0C3-2DE3-489D-9D48-7616FB76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0065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D63C3C"/>
                </a:solidFill>
                <a:latin typeface="Menlo"/>
                <a:ea typeface="Menlo"/>
                <a:cs typeface="Menlo"/>
              </a:defRPr>
            </a:pPr>
            <a:r>
              <a:rPr sz="1575" b="1" i="0">
                <a:solidFill>
                  <a:srgbClr val="D63C3C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E4412C-143E-4667-97CE-979849B5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29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63C3C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D63C3C"/>
                </a:solidFill>
                <a:latin typeface="Menlo"/>
                <a:ea typeface="Menlo"/>
                <a:cs typeface="Menlo"/>
              </a:rPr>
              <a:t>illegal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0FAD3-13D5-419F-963D-846253B1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105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i="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4CB9F-AA91-46B7-95C0-E08A2B7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14900"/>
            <a:ext cx="1409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450CB-7C79-47C6-916A-F62EC130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911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9616C"/>
                </a:solidFill>
                <a:latin typeface="Menlo"/>
                <a:ea typeface="Menlo"/>
                <a:cs typeface="Menlo"/>
              </a:defRPr>
            </a:pPr>
            <a:r>
              <a:rPr sz="1125" b="0" i="0">
                <a:solidFill>
                  <a:srgbClr val="59616C"/>
                </a:solidFill>
                <a:latin typeface="Menlo"/>
                <a:ea typeface="Menlo"/>
                <a:cs typeface="Menlo"/>
              </a:rPr>
              <a:t>n + 2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B4DD7D-D282-489C-A027-9EB7ACFC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0065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4345B"/>
                </a:solidFill>
                <a:latin typeface="Menlo"/>
                <a:ea typeface="Menlo"/>
                <a:cs typeface="Menlo"/>
              </a:defRPr>
            </a:pPr>
            <a:r>
              <a:rPr sz="1575" b="1" i="0">
                <a:solidFill>
                  <a:srgbClr val="14345B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86E147-4526-40DF-92E0-53372BD2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501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 i="0">
                <a:solidFill>
                  <a:srgbClr val="D63C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1" i="0">
                <a:solidFill>
                  <a:srgbClr val="D63C3C"/>
                </a:solidFill>
                <a:latin typeface="Apple SD Gothic Neo"/>
                <a:ea typeface="Apple SD Gothic Neo"/>
                <a:cs typeface="Apple SD Gothic Neo"/>
              </a:rPr>
              <a:t>가능한 오류: 잘못된 decode, 1-cycle enable, FSM illegal transition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31DA8F-FE7B-4A2E-AF6F-8F0DB041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811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회피 원칙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A6C07F-FEF8-4B10-8B8D-FE41264F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955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575" b="1" i="0">
                <a:solidFill>
                  <a:srgbClr val="3D8D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00909F-EAB6-45B0-B319-05A117E4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원자성을 한 경로에 둔다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C95DB5-2309-4E56-ADBA-8654797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193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57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data를 hold하고 synchronized valid/req 하나로 destination register를 load한다.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7BF766-6ECB-4231-BFB9-4F7A5EB2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16839C-CF8B-4E02-8353-CD4B43C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575" b="1" i="0">
                <a:solidFill>
                  <a:srgbClr val="3D8D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AFF3F8-E850-46D3-88F7-0B75F3A5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28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encoding을 바꾼다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A527FA-E24C-49B3-8652-7508CBA0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57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counter/pointer는 Gray code로 전달하고 bit 간 skew·net delay도 제한한다.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67719E-94EA-4B17-BFE2-1E007A68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862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79845E-E821-4E6C-86AF-D4C8D930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814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575" b="1" i="0">
                <a:solidFill>
                  <a:srgbClr val="3D8D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7EE35D-D2F4-4626-9C6A-B5472138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719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트래픽에 맞는 구조를 쓴다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B53A0D-A8F3-463C-92DE-E9484231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0532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57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드문 단건은 handshake, 연속·버스트 데이터는 asynchronous FIFO를 사용한다.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F28D11-0674-49EA-8491-2728503D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29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9A9CD-F5E6-46A9-B05F-1AD3C140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575" b="1" i="0">
                <a:solidFill>
                  <a:srgbClr val="3D8D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C0B110-214D-458E-A63F-1ED2462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149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11317"/>
                </a:solidFill>
                <a:latin typeface="Apple SD Gothic Neo"/>
                <a:ea typeface="Apple SD Gothic Neo"/>
                <a:cs typeface="Apple SD Gothic Neo"/>
              </a:rPr>
              <a:t>구조와 기능을 함께 검증한다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3BA402-1DE1-473A-97E2-ECD66F67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483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57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0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CDC lint/report + data-stable·Gray onehot·illegal-state assertion을 결합한다.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CA4619-9003-45F9-A899-F8626874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86450"/>
            <a:ext cx="5143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13" b="1" i="0">
                <a:solidFill>
                  <a:srgbClr val="14345B"/>
                </a:solidFill>
                <a:latin typeface="Apple SD Gothic Neo"/>
                <a:ea typeface="Apple SD Gothic Neo"/>
                <a:cs typeface="Apple SD Gothic Neo"/>
              </a:rPr>
              <a:t>set_false_path는 coherency 증명이 아니다.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EECA4E-2D43-458D-A5C6-65E71969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RECONVERGENCE CDC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53E87B-AF94-46DD-BCA0-BAC84A01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i="0">
                <a:solidFill>
                  <a:srgbClr val="59616C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21689"/>
      </p:ext>
    </p:extLst>
  </p:cSld>
</p:sld>
</file>

<file path=ppt/theme/theme1.xml><?xml version="1.0" encoding="utf-8"?>
<a:theme xmlns:a="http://schemas.openxmlformats.org/drawingml/2006/main" name="ChatGPT">
  <a:themeElements>
    <a:clrScheme name="CDC Technical Grid">
      <a:dk1>
        <a:srgbClr val="000000"/>
      </a:dk1>
      <a:lt1>
        <a:srgbClr val="FFFFFF"/>
      </a:lt1>
      <a:dk2>
        <a:srgbClr val="14345B"/>
      </a:dk2>
      <a:lt2>
        <a:srgbClr val="EDEDED"/>
      </a:lt2>
      <a:accent1>
        <a:srgbClr val="3D8DFF"/>
      </a:accent1>
      <a:accent2>
        <a:srgbClr val="6DCBF4"/>
      </a:accent2>
      <a:accent3>
        <a:srgbClr val="D63C3C"/>
      </a:accent3>
      <a:accent4>
        <a:srgbClr val="187A55"/>
      </a:accent4>
      <a:accent5>
        <a:srgbClr val="14345B"/>
      </a:accent5>
      <a:accent6>
        <a:srgbClr val="7357C7"/>
      </a:accent6>
      <a:hlink>
        <a:srgbClr val="3D8DFF"/>
      </a:hlink>
      <a:folHlink>
        <a:srgbClr val="7357C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DC Technical Gri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2026-08-28T01:57:53.9290000Z</dcterms:created>
  <dcterms:modified xsi:type="dcterms:W3CDTF">2026-08-28T01:57:53.9290000Z</dcterms:modified>
</coreProperties>
</file>