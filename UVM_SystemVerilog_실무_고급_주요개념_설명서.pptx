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1ffb3e15c4821" /><Relationship Type="http://schemas.openxmlformats.org/officeDocument/2006/relationships/extended-properties" Target="/docProps/app.xml" Id="Racbe997db03f4c7f" /><Relationship Type="http://schemas.openxmlformats.org/officeDocument/2006/relationships/officeDocument" Target="/ppt/presentation.xml" Id="R054c7f0d0f7c4b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033ecd014249cd"/>
  </p:sldMasterIdLst>
  <p:notesMasterIdLst>
    <p:notesMasterId xmlns:r="http://schemas.openxmlformats.org/officeDocument/2006/relationships" r:id="Re81e7acc8ec744bc"/>
  </p:notesMasterIdLst>
  <p:sldIdLst>
    <p:sldId xmlns:r="http://schemas.openxmlformats.org/officeDocument/2006/relationships" id="256" r:id="R4b93a0a988ef4e2a"/>
    <p:sldId xmlns:r="http://schemas.openxmlformats.org/officeDocument/2006/relationships" id="257" r:id="Rc21feddfbef14b1e"/>
    <p:sldId xmlns:r="http://schemas.openxmlformats.org/officeDocument/2006/relationships" id="258" r:id="Reba92c92a29b43a9"/>
    <p:sldId xmlns:r="http://schemas.openxmlformats.org/officeDocument/2006/relationships" id="259" r:id="Rbce16563ad11429b"/>
    <p:sldId xmlns:r="http://schemas.openxmlformats.org/officeDocument/2006/relationships" id="260" r:id="R6c36998caba64b25"/>
    <p:sldId xmlns:r="http://schemas.openxmlformats.org/officeDocument/2006/relationships" id="261" r:id="Rb9c3bb6a02404154"/>
    <p:sldId xmlns:r="http://schemas.openxmlformats.org/officeDocument/2006/relationships" id="262" r:id="Re3b450e1efdf4740"/>
    <p:sldId xmlns:r="http://schemas.openxmlformats.org/officeDocument/2006/relationships" id="263" r:id="Rc0dc7d8cdb394627"/>
    <p:sldId xmlns:r="http://schemas.openxmlformats.org/officeDocument/2006/relationships" id="264" r:id="Rb7f833185bdd42ac"/>
    <p:sldId xmlns:r="http://schemas.openxmlformats.org/officeDocument/2006/relationships" id="265" r:id="R7099ff73ccb14a0c"/>
    <p:sldId xmlns:r="http://schemas.openxmlformats.org/officeDocument/2006/relationships" id="266" r:id="Rba587a0ed07249ef"/>
    <p:sldId xmlns:r="http://schemas.openxmlformats.org/officeDocument/2006/relationships" id="267" r:id="R29ccab5fed754a2c"/>
    <p:sldId xmlns:r="http://schemas.openxmlformats.org/officeDocument/2006/relationships" id="268" r:id="R24e622a8014f4ab8"/>
    <p:sldId xmlns:r="http://schemas.openxmlformats.org/officeDocument/2006/relationships" id="269" r:id="Rb8765e43a28549b0"/>
    <p:sldId xmlns:r="http://schemas.openxmlformats.org/officeDocument/2006/relationships" id="270" r:id="R2e0e38ef14564052"/>
    <p:sldId xmlns:r="http://schemas.openxmlformats.org/officeDocument/2006/relationships" id="271" r:id="R27ac63f8195f43e8"/>
    <p:sldId xmlns:r="http://schemas.openxmlformats.org/officeDocument/2006/relationships" id="272" r:id="Rd18e2cba114649a9"/>
    <p:sldId xmlns:r="http://schemas.openxmlformats.org/officeDocument/2006/relationships" id="273" r:id="R9c18a41a99554e3e"/>
    <p:sldId xmlns:r="http://schemas.openxmlformats.org/officeDocument/2006/relationships" id="274" r:id="Rd008a88b84c04503"/>
    <p:sldId xmlns:r="http://schemas.openxmlformats.org/officeDocument/2006/relationships" id="275" r:id="Rf977a19c2bb84219"/>
    <p:sldId xmlns:r="http://schemas.openxmlformats.org/officeDocument/2006/relationships" id="276" r:id="R1f5cfcb10f4d4348"/>
    <p:sldId xmlns:r="http://schemas.openxmlformats.org/officeDocument/2006/relationships" id="277" r:id="Re13b75d4d4774a6f"/>
    <p:sldId xmlns:r="http://schemas.openxmlformats.org/officeDocument/2006/relationships" id="278" r:id="Rccf172a79d33470e"/>
    <p:sldId xmlns:r="http://schemas.openxmlformats.org/officeDocument/2006/relationships" id="279" r:id="Rb0d558e4ac864e34"/>
    <p:sldId xmlns:r="http://schemas.openxmlformats.org/officeDocument/2006/relationships" id="280" r:id="R65ea405da7a646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59da9906d1444c" /><Relationship Type="http://schemas.openxmlformats.org/officeDocument/2006/relationships/slideMaster" Target="/ppt/slideMasters/slideMaster1.xml" Id="R50033ecd014249cd" /><Relationship Type="http://schemas.openxmlformats.org/officeDocument/2006/relationships/notesMaster" Target="/ppt/notesMasters/notesMaster1.xml" Id="Re81e7acc8ec744bc" /><Relationship Type="http://schemas.openxmlformats.org/officeDocument/2006/relationships/presProps" Target="/ppt/presProps.xml" Id="R942212849fed491b" /><Relationship Type="http://schemas.openxmlformats.org/officeDocument/2006/relationships/tableStyles" Target="/ppt/tableStyles.xml" Id="Rf09c37395c3d4a1f" /><Relationship Type="http://schemas.openxmlformats.org/officeDocument/2006/relationships/slide" Target="/ppt/slides/slide1.xml" Id="R4b93a0a988ef4e2a" /><Relationship Type="http://schemas.openxmlformats.org/officeDocument/2006/relationships/slide" Target="/ppt/slides/slide2.xml" Id="Rc21feddfbef14b1e" /><Relationship Type="http://schemas.openxmlformats.org/officeDocument/2006/relationships/slide" Target="/ppt/slides/slide3.xml" Id="Reba92c92a29b43a9" /><Relationship Type="http://schemas.openxmlformats.org/officeDocument/2006/relationships/slide" Target="/ppt/slides/slide4.xml" Id="Rbce16563ad11429b" /><Relationship Type="http://schemas.openxmlformats.org/officeDocument/2006/relationships/slide" Target="/ppt/slides/slide5.xml" Id="R6c36998caba64b25" /><Relationship Type="http://schemas.openxmlformats.org/officeDocument/2006/relationships/slide" Target="/ppt/slides/slide6.xml" Id="Rb9c3bb6a02404154" /><Relationship Type="http://schemas.openxmlformats.org/officeDocument/2006/relationships/slide" Target="/ppt/slides/slide7.xml" Id="Re3b450e1efdf4740" /><Relationship Type="http://schemas.openxmlformats.org/officeDocument/2006/relationships/slide" Target="/ppt/slides/slide8.xml" Id="Rc0dc7d8cdb394627" /><Relationship Type="http://schemas.openxmlformats.org/officeDocument/2006/relationships/slide" Target="/ppt/slides/slide9.xml" Id="Rb7f833185bdd42ac" /><Relationship Type="http://schemas.openxmlformats.org/officeDocument/2006/relationships/slide" Target="/ppt/slides/slide10.xml" Id="R7099ff73ccb14a0c" /><Relationship Type="http://schemas.openxmlformats.org/officeDocument/2006/relationships/slide" Target="/ppt/slides/slide11.xml" Id="Rba587a0ed07249ef" /><Relationship Type="http://schemas.openxmlformats.org/officeDocument/2006/relationships/slide" Target="/ppt/slides/slide12.xml" Id="R29ccab5fed754a2c" /><Relationship Type="http://schemas.openxmlformats.org/officeDocument/2006/relationships/slide" Target="/ppt/slides/slide13.xml" Id="R24e622a8014f4ab8" /><Relationship Type="http://schemas.openxmlformats.org/officeDocument/2006/relationships/slide" Target="/ppt/slides/slide14.xml" Id="Rb8765e43a28549b0" /><Relationship Type="http://schemas.openxmlformats.org/officeDocument/2006/relationships/slide" Target="/ppt/slides/slide15.xml" Id="R2e0e38ef14564052" /><Relationship Type="http://schemas.openxmlformats.org/officeDocument/2006/relationships/slide" Target="/ppt/slides/slide16.xml" Id="R27ac63f8195f43e8" /><Relationship Type="http://schemas.openxmlformats.org/officeDocument/2006/relationships/slide" Target="/ppt/slides/slide17.xml" Id="Rd18e2cba114649a9" /><Relationship Type="http://schemas.openxmlformats.org/officeDocument/2006/relationships/slide" Target="/ppt/slides/slide18.xml" Id="R9c18a41a99554e3e" /><Relationship Type="http://schemas.openxmlformats.org/officeDocument/2006/relationships/slide" Target="/ppt/slides/slide19.xml" Id="Rd008a88b84c04503" /><Relationship Type="http://schemas.openxmlformats.org/officeDocument/2006/relationships/slide" Target="/ppt/slides/slide20.xml" Id="Rf977a19c2bb84219" /><Relationship Type="http://schemas.openxmlformats.org/officeDocument/2006/relationships/slide" Target="/ppt/slides/slide21.xml" Id="R1f5cfcb10f4d4348" /><Relationship Type="http://schemas.openxmlformats.org/officeDocument/2006/relationships/slide" Target="/ppt/slides/slide22.xml" Id="Re13b75d4d4774a6f" /><Relationship Type="http://schemas.openxmlformats.org/officeDocument/2006/relationships/slide" Target="/ppt/slides/slide23.xml" Id="Rccf172a79d33470e" /><Relationship Type="http://schemas.openxmlformats.org/officeDocument/2006/relationships/slide" Target="/ppt/slides/slide24.xml" Id="Rb0d558e4ac864e34" /><Relationship Type="http://schemas.openxmlformats.org/officeDocument/2006/relationships/slide" Target="/ppt/slides/slide25.xml" Id="R65ea405da7a646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d0cd2b2b2e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b9b7ead3e7420e" /><Relationship Type="http://schemas.openxmlformats.org/officeDocument/2006/relationships/notesMaster" Target="/ppt/notesMasters/notesMaster1.xml" Id="R28905e596b8e4d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efe8218eda4675" /><Relationship Type="http://schemas.openxmlformats.org/officeDocument/2006/relationships/notesMaster" Target="/ppt/notesMasters/notesMaster1.xml" Id="R828aeed5eacc44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8c68ac8d1440a" /><Relationship Type="http://schemas.openxmlformats.org/officeDocument/2006/relationships/notesMaster" Target="/ppt/notesMasters/notesMaster1.xml" Id="R1aff9c8f3d3448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3334a42d664b6b" /><Relationship Type="http://schemas.openxmlformats.org/officeDocument/2006/relationships/notesMaster" Target="/ppt/notesMasters/notesMaster1.xml" Id="Rac8edf6894954e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36d02ee1724bf1" /><Relationship Type="http://schemas.openxmlformats.org/officeDocument/2006/relationships/notesMaster" Target="/ppt/notesMasters/notesMaster1.xml" Id="Rf741ffa6797d4c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fa5d271b2046ef" /><Relationship Type="http://schemas.openxmlformats.org/officeDocument/2006/relationships/notesMaster" Target="/ppt/notesMasters/notesMaster1.xml" Id="R1649d7a02c644f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5428c33dd346d0" /><Relationship Type="http://schemas.openxmlformats.org/officeDocument/2006/relationships/notesMaster" Target="/ppt/notesMasters/notesMaster1.xml" Id="R08a45b7bd1694f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2f29b4e0344303" /><Relationship Type="http://schemas.openxmlformats.org/officeDocument/2006/relationships/notesMaster" Target="/ppt/notesMasters/notesMaster1.xml" Id="R97f296d4ba6c41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7dac0511714fb6" /><Relationship Type="http://schemas.openxmlformats.org/officeDocument/2006/relationships/notesMaster" Target="/ppt/notesMasters/notesMaster1.xml" Id="Raa566d98d16f47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13d41a055547d8" /><Relationship Type="http://schemas.openxmlformats.org/officeDocument/2006/relationships/notesMaster" Target="/ppt/notesMasters/notesMaster1.xml" Id="R2ce8f800a6ca42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ec5ad08f3849a2" /><Relationship Type="http://schemas.openxmlformats.org/officeDocument/2006/relationships/notesMaster" Target="/ppt/notesMasters/notesMaster1.xml" Id="R9a21f672f48f4b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c639add3b7424b" /><Relationship Type="http://schemas.openxmlformats.org/officeDocument/2006/relationships/notesMaster" Target="/ppt/notesMasters/notesMaster1.xml" Id="R5d2e4b7b8b2749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2ea3a0f58e4a88" /><Relationship Type="http://schemas.openxmlformats.org/officeDocument/2006/relationships/notesMaster" Target="/ppt/notesMasters/notesMaster1.xml" Id="R1e003aaee51741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ac1e8c8b484f7d" /><Relationship Type="http://schemas.openxmlformats.org/officeDocument/2006/relationships/notesMaster" Target="/ppt/notesMasters/notesMaster1.xml" Id="R0f2edbcddeec4d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e48299cb4e40bd" /><Relationship Type="http://schemas.openxmlformats.org/officeDocument/2006/relationships/notesMaster" Target="/ppt/notesMasters/notesMaster1.xml" Id="R0db50d0cce4843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0953526680421e" /><Relationship Type="http://schemas.openxmlformats.org/officeDocument/2006/relationships/notesMaster" Target="/ppt/notesMasters/notesMaster1.xml" Id="Reb13a11b2fbd4e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bfd24b6560430b" /><Relationship Type="http://schemas.openxmlformats.org/officeDocument/2006/relationships/notesMaster" Target="/ppt/notesMasters/notesMaster1.xml" Id="R4e1a1d21790445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38047da4814ba2" /><Relationship Type="http://schemas.openxmlformats.org/officeDocument/2006/relationships/notesMaster" Target="/ppt/notesMasters/notesMaster1.xml" Id="R466e7569c4c94c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b7fe7ad0934d64" /><Relationship Type="http://schemas.openxmlformats.org/officeDocument/2006/relationships/notesMaster" Target="/ppt/notesMasters/notesMaster1.xml" Id="R0fb5084917004c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7ad97fac574788" /><Relationship Type="http://schemas.openxmlformats.org/officeDocument/2006/relationships/notesMaster" Target="/ppt/notesMasters/notesMaster1.xml" Id="R6bb95aa43098484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8fbf49aa3446d8" /><Relationship Type="http://schemas.openxmlformats.org/officeDocument/2006/relationships/notesMaster" Target="/ppt/notesMasters/notesMaster1.xml" Id="R6d957d26965847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f1cf26ee0d94636" /><Relationship Type="http://schemas.openxmlformats.org/officeDocument/2006/relationships/notesMaster" Target="/ppt/notesMasters/notesMaster1.xml" Id="R029a15661bcd4d4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8a1704449624b40" /><Relationship Type="http://schemas.openxmlformats.org/officeDocument/2006/relationships/notesMaster" Target="/ppt/notesMasters/notesMaster1.xml" Id="R12d2e828850e4c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73c4b73e1b246f8" /><Relationship Type="http://schemas.openxmlformats.org/officeDocument/2006/relationships/notesMaster" Target="/ppt/notesMasters/notesMaster1.xml" Id="R40d6faef23d845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fdc1d7b9f7b46b5" /><Relationship Type="http://schemas.openxmlformats.org/officeDocument/2006/relationships/notesMaster" Target="/ppt/notesMasters/notesMaster1.xml" Id="Ra20d01881e7a4c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대상: UVM/SystemVerilog 경험이 있는 검증 엔지니어.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https://github.com/accellera-official/uvm-core</a:t>
            </a:r>
          </a:p>
          <a:p xmlns:a="http://schemas.openxmlformats.org/drawingml/2006/main">
            <a:r>
              <a:t>- https://www.accellera.org/downloads/standards/uvm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https://standards.ieee.org/ieee/1800/7743/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https://standards.ieee.org/ieee/1800/7743/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https://verificationacademy.com/verification-methodology-reference/uvm/docs_1.2/html/files/overviews/factory-txt.html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https://verificationacademy.com/verification-methodology-reference/uvm/docs_1.2/html/files/base/uvm_config_db-svh.html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https://verificationacademy.com/verification-methodology-reference/uvm/docs_1.2/html/files/seq/uvm_sequencer-svh.html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https://verificationacademy.com/verification-methodology-reference/uvm/docs_1.2/html/files/seq/uvm_sequencer-svh.html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https://standards.ieee.org/ieee/1800/7743/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https://github.com/accellera-official/uvm-core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https://github.com/accellera-official/uvm-core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https://standards.ieee.org/ieee/1800.2/7567/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https://www.accellera.org/images/downloads/standards/uvm/uvm_users_guide_1.2.pdf</a:t>
            </a:r>
          </a:p>
          <a:p xmlns:a="http://schemas.openxmlformats.org/drawingml/2006/main">
            <a:r>
              <a:t>- https://standards.ieee.org/ieee/1800/7743/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마무리: 팀의 현재 병목을 architecture, correctness, closure, performance 중 하나로 분류하고 한 축부터 개선합니다.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https://standards.ieee.org/ieee/1800/7743/</a:t>
            </a:r>
          </a:p>
          <a:p xmlns:a="http://schemas.openxmlformats.org/drawingml/2006/main">
            <a:r>
              <a:t>- https://standards.ieee.org/ieee/1800.2/7567/</a:t>
            </a:r>
          </a:p>
          <a:p xmlns:a="http://schemas.openxmlformats.org/drawingml/2006/main">
            <a:r>
              <a:t>- https://www.accellera.org/downloads/standards/uvm</a:t>
            </a:r>
          </a:p>
          <a:p xmlns:a="http://schemas.openxmlformats.org/drawingml/2006/main">
            <a:r>
              <a:t>- https://github.com/accellera-official/uvm-core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d7119c7424b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099e87954145d9" /><Relationship Type="http://schemas.openxmlformats.org/officeDocument/2006/relationships/slideLayout" Target="/ppt/slideLayouts/slideLayout1.xml" Id="Rc7e2d92ae91b40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e2d92ae91b40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ca4dad2f94e6e" /><Relationship Type="http://schemas.openxmlformats.org/officeDocument/2006/relationships/notesSlide" Target="/ppt/notesSlides/notesSlide1.xml" Id="Rafad1366483b4b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d29ee5588456b" /><Relationship Type="http://schemas.openxmlformats.org/officeDocument/2006/relationships/notesSlide" Target="/ppt/notesSlides/notesSlide2.xml" Id="R73eb43dbc5b0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c66c3b9e648ed" /><Relationship Type="http://schemas.openxmlformats.org/officeDocument/2006/relationships/notesSlide" Target="/ppt/notesSlides/notesSlide3.xml" Id="R8dd526e6e1c548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f2979f78342a3" /><Relationship Type="http://schemas.openxmlformats.org/officeDocument/2006/relationships/notesSlide" Target="/ppt/notesSlides/notesSlide4.xml" Id="R175a274837be49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4e54a99904d9f" /><Relationship Type="http://schemas.openxmlformats.org/officeDocument/2006/relationships/notesSlide" Target="/ppt/notesSlides/notesSlide5.xml" Id="R122f0075fa8e43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02f260c49434c" /><Relationship Type="http://schemas.openxmlformats.org/officeDocument/2006/relationships/notesSlide" Target="/ppt/notesSlides/notesSlide6.xml" Id="R90f680e660b844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ebd0767014ac8" /><Relationship Type="http://schemas.openxmlformats.org/officeDocument/2006/relationships/notesSlide" Target="/ppt/notesSlides/notesSlide7.xml" Id="R641b4204734548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e3d7827784661" /><Relationship Type="http://schemas.openxmlformats.org/officeDocument/2006/relationships/notesSlide" Target="/ppt/notesSlides/notesSlide8.xml" Id="Rad9f94d973384f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6dc3a6aca4683" /><Relationship Type="http://schemas.openxmlformats.org/officeDocument/2006/relationships/notesSlide" Target="/ppt/notesSlides/notesSlide9.xml" Id="R0e4b6529770f40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8a45fce554678" /><Relationship Type="http://schemas.openxmlformats.org/officeDocument/2006/relationships/notesSlide" Target="/ppt/notesSlides/notesSlide10.xml" Id="R765f027d48184a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abea4ff684d4d" /><Relationship Type="http://schemas.openxmlformats.org/officeDocument/2006/relationships/notesSlide" Target="/ppt/notesSlides/notesSlide11.xml" Id="R85274195742e4a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2eda2c70b4008" /><Relationship Type="http://schemas.openxmlformats.org/officeDocument/2006/relationships/notesSlide" Target="/ppt/notesSlides/notesSlide12.xml" Id="R2ca4fb60ab4443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e81dfdc584457" /><Relationship Type="http://schemas.openxmlformats.org/officeDocument/2006/relationships/notesSlide" Target="/ppt/notesSlides/notesSlide13.xml" Id="Rf5a8622376774a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d4ce1029c4e00" /><Relationship Type="http://schemas.openxmlformats.org/officeDocument/2006/relationships/notesSlide" Target="/ppt/notesSlides/notesSlide14.xml" Id="R38dec1fcab9a46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97f6969414573" /><Relationship Type="http://schemas.openxmlformats.org/officeDocument/2006/relationships/notesSlide" Target="/ppt/notesSlides/notesSlide15.xml" Id="R567ad65884d84f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cf05694b54501" /><Relationship Type="http://schemas.openxmlformats.org/officeDocument/2006/relationships/notesSlide" Target="/ppt/notesSlides/notesSlide16.xml" Id="R9fc162b86aec41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1aa286dfb4a53" /><Relationship Type="http://schemas.openxmlformats.org/officeDocument/2006/relationships/notesSlide" Target="/ppt/notesSlides/notesSlide17.xml" Id="Ra4fd1e32356e43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3588e5b0a4692" /><Relationship Type="http://schemas.openxmlformats.org/officeDocument/2006/relationships/notesSlide" Target="/ppt/notesSlides/notesSlide18.xml" Id="Re5d8dd0d71b841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2a7c3f8eb4cc9" /><Relationship Type="http://schemas.openxmlformats.org/officeDocument/2006/relationships/notesSlide" Target="/ppt/notesSlides/notesSlide19.xml" Id="R696d653c95844f5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c41d0c4224dc7" /><Relationship Type="http://schemas.openxmlformats.org/officeDocument/2006/relationships/notesSlide" Target="/ppt/notesSlides/notesSlide20.xml" Id="Re4d26c90028d4ce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90ae914af4779" /><Relationship Type="http://schemas.openxmlformats.org/officeDocument/2006/relationships/notesSlide" Target="/ppt/notesSlides/notesSlide21.xml" Id="R2a3a305d9edb49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0e7241ed54887" /><Relationship Type="http://schemas.openxmlformats.org/officeDocument/2006/relationships/notesSlide" Target="/ppt/notesSlides/notesSlide22.xml" Id="R311101a934c24f5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331803ebd479c" /><Relationship Type="http://schemas.openxmlformats.org/officeDocument/2006/relationships/notesSlide" Target="/ppt/notesSlides/notesSlide23.xml" Id="Rc5d62fe3208545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26071206545e1" /><Relationship Type="http://schemas.openxmlformats.org/officeDocument/2006/relationships/notesSlide" Target="/ppt/notesSlides/notesSlide24.xml" Id="Ree8ab480b90842b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dff7c7aa843ce" /><Relationship Type="http://schemas.openxmlformats.org/officeDocument/2006/relationships/notesSlide" Target="/ppt/notesSlides/notesSlide25.xml" Id="R10ade7e4203c47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5DAA8-829E-4416-A46E-57060A5C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790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9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2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UVM · SystemVerilog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6AAA8-9F16-4778-B60E-6A0463C5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45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실무·고급 주요 개념 설명서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4ED2E-B7C1-41CA-AE16-83EA8E96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Race-free 실행 모델에서 reusable verification architecture까지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49391-E8B0-4E9D-BFA5-8CA2608E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485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35276-A8DD-46F1-B9B2-3330F642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Architecture  /  Stimulus  /  Checking  /  Coverage  /  RAL  /  Debug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7A135-0776-47D9-B1BC-0BB35C6B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742950"/>
            <a:ext cx="23050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FD7BB-2EB5-4B42-81EC-72536D39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C09DA-7B40-4F11-9F80-17E71846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02882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FAFD1-98B4-455A-8C70-4B4E170C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716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8DE84-A49A-4CA2-8FB3-44351F43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514475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70794-49ED-4133-88E1-25628DAE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2573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319BC-B32A-4CBD-97DD-B829BA04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1581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57550-4DCD-4BEB-846C-9CBE9398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956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8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evidence-driven</a:t>
            </a:r>
          </a:p>
          <a:p xmlns:a="http://schemas.openxmlformats.org/drawingml/2006/main">
            <a:pPr algn="ctr"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84F1F-C958-4FBD-A729-8E9F281F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771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기준: IEEE 1800-2023 · IEEE 1800.2-2020 · UVM 2020.3.1</a:t>
            </a:r>
          </a:p>
        </p:txBody>
      </p:sp>
    </p:spTree>
    <p:extLst>
      <p:ext uri="{BB962C8B-B14F-4D97-AF65-F5344CB8AC3E}">
        <p14:creationId xmlns:p14="http://schemas.microsoft.com/office/powerpoint/2010/main" val="145092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FE412-3C69-42A8-90E8-4FA5A76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71443-C88E-41E0-9A3E-38AE714D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표준·라이브러리·벤더 구현의 경계를 먼저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030E4-C57D-4BE6-A4DD-75377C1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73F08-26AB-4A88-9574-08B90E71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83EF6-42DE-4040-BA6D-84593B85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7D03F-D902-4C71-9CA1-0071BC99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IEEE 1800-2023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40FBB-71C3-433B-B138-FE413C9F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SystemVerilog 언어 계약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스케줄링·타입·OOP·SVA·coverage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코드의 문법과 실행 의미를 정의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736EE-E0E1-44DC-854D-E8D8B2B8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F6A7B-0466-4843-A960-A547442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IEEE 1800.2-2020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D4B33-9331-4A80-B04B-38995F18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UVM API·동작 계약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component·phase·factory·TLM·RAL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이식 가능한 사용자 코드의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296B2-792F-478B-9C43-BA479FCD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41F63-BAFF-43C0-8E9D-C03CF654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717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UVM 2020.3.1 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993F2-6D29-41AA-A15E-6B2D3D76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9146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Accellera 참조 구현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표준 API + 구현·호환·기여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annotation으로 범주를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51CF6-E9D8-4EE5-8481-78F34C2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@uvm-ieee 우선 · @uvm-accellera / @uvm-contrib / @uvm-compat 의존은 이식성 리스크로 기록</a:t>
            </a:r>
          </a:p>
        </p:txBody>
      </p:sp>
    </p:spTree>
    <p:extLst>
      <p:ext uri="{BB962C8B-B14F-4D97-AF65-F5344CB8AC3E}">
        <p14:creationId xmlns:p14="http://schemas.microsoft.com/office/powerpoint/2010/main" val="60755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3A14D1-BF4E-4DF4-A4DB-0D91967A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16CD8-C3DC-4272-AAA0-97CC4D15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검증 환경은 랜덤 생성기가 아니라 ‘폐루프 제어 시스템’입니다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34DA9-AFED-416A-A51E-BC87DE13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15846-ED34-4853-9837-CBE60B46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C7383-6E46-4FFD-8E45-8A623F9C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E19A1-853B-4CF2-9F57-2AF8D5AC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Stimulus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5C90F-8AD7-42E2-8891-BD82FAE0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941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의도를 transaction으로 표현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09BC9-1AF5-454C-A3E3-7E228F85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38FFE-4041-407E-96B1-3615EEB8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23DCB-364A-4A44-AB94-198028F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A4DA3-EA14-4D50-B227-E0FDCBBA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protocol timing으로 변환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A5BDF-3B5F-4D10-8F00-42FFC2A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C0E1D-7430-4CE3-96DC-21BCFF34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67D40-27FE-4D9F-9549-50065A2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Observe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1B898-171B-4DE9-977F-1385A3EA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핀을 독립적으로 복원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34229-13D0-4935-BE61-3398E375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68083-B483-4D24-B283-B50BB154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314C4-0AF6-4416-96C1-5C6A760F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Predict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537B7-E533-4BF3-BEF8-CF91EE05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spec 상태 전이를 계산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B042C-CF57-493D-A85B-E387D895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33423-F8D3-4CEE-A41C-D08509A9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CF715-B5E6-4C23-8CAF-1D4265EC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Compare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FC1CF-A7C8-4C26-AF84-D2B4CE05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차이·누락·순서를 판정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D86C7-B469-4EF2-A98B-D8938A30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E66A6-AEEF-44D2-A7F2-8CF656F6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5049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5DD5B-CEC2-48A6-BFEA-0422F6DC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241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Coverage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A0768-C548-4F00-A9B9-B955DF0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2895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미검증 공간을 피드백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D6096-3099-4DB4-A6BC-CBA97AE8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338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00B6F-73A5-44A1-A561-77E29464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851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57B28-DB7C-41FE-8604-F71FEB7D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22A56E-1065-4102-919C-EE5E4C6B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원칙: test는 정책을 선택하고, UVC는 메커니즘을 제공하며, 판정은 monitor 관측값에서 시작합니다.</a:t>
            </a:r>
          </a:p>
        </p:txBody>
      </p:sp>
    </p:spTree>
    <p:extLst>
      <p:ext uri="{BB962C8B-B14F-4D97-AF65-F5344CB8AC3E}">
        <p14:creationId xmlns:p14="http://schemas.microsoft.com/office/powerpoint/2010/main" val="1567629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D521E3-999F-4238-AB90-1BA8F8F0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A733-6FCE-42D2-A4BB-17BEB967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UVM control path와 observed data path를 분리합니다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3488D-310E-4975-B898-1C7F88CE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B7DA4-BF69-46F2-BB98-7BE3DC1F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A9B37-1005-4385-8899-872E6811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0668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EBFB3-0C49-4221-A096-4B82A58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86640-9654-4DD8-83DE-1E64E73C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2C479-1C2F-4253-BFC5-DAC12CD1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2ACD3-A618-465F-BC8B-CD6D2BE8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61B0D-B0F7-4BDA-8E71-906E02B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0BA29-C96A-4CBB-AC1F-BD1B8AD3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env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5E765-B23B-43CE-B8D0-33889933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A8E77-6721-472E-A11F-3D7FB965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018F5-0CD6-4F2E-817A-DEB6C974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D5CCE-A5BF-4A39-954B-885EDC51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C08DF-9F60-4F29-8BC9-9ABF87D4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69007F-F5D0-47EF-BDAB-962D4FF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sequencer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9DD50-8B95-4C7F-8B71-98DAD44C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8056E-9453-4C1B-946B-23E68286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66950"/>
            <a:ext cx="1676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7402C-9A34-4000-80E3-8D640B29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24125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driver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6A7DA-EB77-4B37-B50F-C3AAF6A2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4097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DF252-6445-45E1-8740-EE74EED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48075"/>
            <a:ext cx="1409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OBSERVED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A4E15-BB4F-49D9-991A-D3956F33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F3703-A2FA-4301-93D8-FC24C56D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monitor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B86CF-63F2-4989-93E4-E992CD73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05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026711-D70C-4473-AE66-6BF115F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98B5C-1538-4ECD-A036-5502CFE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predictor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50DDF2-66B7-497A-9654-4FF7D743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05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22ADC2-63B9-4733-AF71-543CC65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B81C0E-F7AB-421F-B88E-5EF01EE3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scoreboard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67166D-651C-424F-BAD8-C5448210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1C3323-14BA-4A95-9D7F-213E437E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19431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A4B451-9F51-4A5B-BB5A-A9F55CBE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coverage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74EC90-0361-4B51-A74D-814DA62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Driver 입력과 monitor 출력이 같은 객체 경로를 공유하지 않도록 독립성을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361102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538C51-4A64-48E0-9A9E-3FE1656C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759FB-10D4-4DE4-83DA-423376F5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SystemVerilog event region을 알아야 race-free testbench가 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2529B-0CA6-4A2B-BEA4-450C31E1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C2D42-DE0C-4324-B121-8FB35E38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0C37F-01DD-4F9C-A991-0708B5F3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98D5E-5B4C-4C1C-856F-78AFE40B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Preponed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E007F-1F17-4175-A5FA-53266D33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assertion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83E98-54D5-4C7D-A1FC-B0ADB855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03113-2D76-4EE7-8C85-448FF921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24050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AAA22-2538-4BF4-8AC1-9890D305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52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5B9C9-60B2-4CF3-BF00-587C803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52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blocking / RTL 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07214-F31D-4D66-8792-5651C4FC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E70DC-A5BA-402E-9CC5-249D8199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24050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2A9E8-FEBB-474C-AC0B-451EAD86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52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NBA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3AF6B-64EB-473D-8549-C584CC9B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52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nonblocking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A3DC6-901D-4DE1-975D-75DF0A7C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E40ED-F2CA-4B1D-AF73-B64FE45F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24050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CC04E-C12E-4F55-81A0-08C290CE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Observed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0A4D8-EA50-41BD-9847-3DD8A716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property evaluate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B2AA5-225E-4EFB-B92A-53D73599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88E44-1766-4D38-8838-327C1A0A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24050"/>
            <a:ext cx="18478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E98A4-960F-4E32-8044-4B740959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52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C3A8A7-DF10-424F-86C0-B3DCB18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program/TB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98414-F3FF-441C-A420-71E80030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61912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3708C-97A9-45AB-9033-4E664588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810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위험: DUT와 같은 edge에서 raw signal 접근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@(posedge clk); if (ready) valid &lt;= 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권장: clocking block의 sample/drive skew 사용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@(vif.cb); if (vif.cb.ready) vif.cb.valid &lt;= 1;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DE6024-9F15-456B-80C8-836FAAE8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62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실무 판단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151FC-CB29-453F-936E-8D14E9B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638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#0은 race 해결책이 아닙니다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sampling 시점은 interface에 집중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SVA와 monitor가 보는 edge를 맞춤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simulator 차이를 숨기는 timing hack 금지</a:t>
            </a:r>
          </a:p>
        </p:txBody>
      </p:sp>
    </p:spTree>
    <p:extLst>
      <p:ext uri="{BB962C8B-B14F-4D97-AF65-F5344CB8AC3E}">
        <p14:creationId xmlns:p14="http://schemas.microsoft.com/office/powerpoint/2010/main" val="1157598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5C1C4-32BF-4492-A6E2-DC6BF9BB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C8F33-8C4E-44D7-85C1-BED4D9D3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Concurrency: process 수명과 종료 정책을 설계합니다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E47BEF-52DC-4566-89A7-CE7EACC8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D6B83-7AB1-48E7-B6FD-A4442112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984FD-DD16-470E-AC64-BC0EC48F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8E39E-B966-4361-9FB2-C448B099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fork…join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F4439-55F9-4DE4-94A9-CC83545F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81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모든 child 완료까지 대기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명확한 병렬 작업 묶음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8B7D6-E7E9-414F-9F67-EEBBC94F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478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112C2-3573-4A51-B5D8-BB0FDD8C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join_any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D47F7-59AE-4AC5-801A-29BB88B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281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첫 child 완료 후 진행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나머지 thread를 명시적으로 정리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FE641-6651-43DC-9E16-6C694BCC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478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72ED2-7456-4FD2-AF61-78E295EF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join_none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3491B-334D-44AC-B1BC-210E7114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14600"/>
            <a:ext cx="2819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즉시 반환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handle·shutdown·leak 정책 필수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3CC16-2B63-4719-8189-ED1F6617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53340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0B56C-7D78-41BD-9C4A-42C7121C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2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process workers[$];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fork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begin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workers.push_back(process::self());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monitor_stream();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end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join_none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wait (stop_req);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foreach (workers[i]) workers[i].kill();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BCDBF-16DB-44AD-A526-E4AD95E7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동기화 도구 선택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C9EF9-80F0-422D-AAD5-E915AA1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191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78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event  — 순간 알림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mailbox — 데이터 + blocking queue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semaphore — 제한된 자원 수량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barrier — N개 참여자의 합류점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주의: disable fork는 의도보다 넓게 종료할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23185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134D8-CCCA-4498-8494-ED92C3D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88FF9-CEE3-4C1C-AE40-0D699AE2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Transaction ownership과 객체 복사를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EC11E-0E30-4631-8ECC-87FDBD08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9F802-F3FE-46EA-A32F-0128D190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1AF4D-A60C-41BE-BB1B-17864C49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12192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BE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235B1-E40D-44E1-8F7E-33EDE95D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7642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HANDLE COPY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3228D-3B5E-41A7-927E-2F69C554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00E2B-B3D0-4AC8-BDAD-FE07FC76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a = b;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389EB-F98F-4ECC-A132-DDA880CC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같은 객체를 가리킴</a:t>
            </a:r>
          </a:p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한쪽 mutation이 모두에 보임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86315-E118-4CA5-B03B-8104B37C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F9A7A-F0E0-4645-997B-54EDC529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28800"/>
            <a:ext cx="12573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27D3DD-3E7C-4A2E-B7B1-096A9EE8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76425"/>
            <a:ext cx="1257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rPr>
              <a:t>OBJECT COPY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3F108-652A-4747-8BBA-775933F7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8F8A2-B5A2-45DB-B0F8-CDA2919C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$cast(a, b.clone());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C97C1-081B-488D-BB3F-851A6810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051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새 객체 + 정책 기반 복사</a:t>
            </a:r>
          </a:p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do_copy의 deep/shallow 검토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33CBE-948E-40C5-855A-F9A5748B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28800"/>
            <a:ext cx="38862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66655-53A5-4EFE-8863-2FF81089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Analysis path 계약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5822B-8C96-4651-8F82-8B702757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95550"/>
            <a:ext cx="3467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write()는 동일 handle을 fan-out할 수 있음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subscriber는 publish된 객체를 변경하지 않음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보관이 필요하면 clone 또는 immutable snapshot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monitor는 transaction마다 새 객체를 publish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455B1-3F51-46A7-9BE1-BA05E000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field automation macro는 편하지만 queue·object·reference 정책을 코드 리뷰에서 반드시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576340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0D430-9471-420F-838E-35658A8A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B1F69-AD89-4E76-91D3-0E60CCF0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Constrained random: 합법 공간과 분포 정책을 분리합니다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9AABF-BE98-46B6-814A-0ED3ECD2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4644A-CE9F-4837-8259-B1097B7A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9B682-EBF7-4161-B647-E0C72E7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603885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9FDF1-145C-4AD6-A739-0C7040E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6578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class req extends uvm_sequence_item;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rand bit [15:0] addr;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rand int unsigned len;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soft constraint c_len { len inside {[1:16]}; }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constraint c_order { solve len before addr; }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constraint c_addr  { addr % len == 0; }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endclass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assert(req.randomize() with { len dist {1 := 5, [2:8] :/ 5}; });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42B31-C0A0-4515-8D67-184977CC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우선순위와 의미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E8089-64CE-4B51-A965-B9A8A54F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hard constraint  — 항상 만족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soft constraint  — test가 덮는 기본값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inline constraint — scenario의 국소 의도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solve before      — 해 집합이 아니라 분포 영향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:= / :/            — bin별 가중치 의미가 다름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5B9EB-1261-4903-904B-C5452C81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실패 시: randomize 반환값 → constraint_mode/rand_mode → 최소 충돌 집합 → seed 재현 순으로 추적</a:t>
            </a:r>
          </a:p>
        </p:txBody>
      </p:sp>
    </p:spTree>
    <p:extLst>
      <p:ext uri="{BB962C8B-B14F-4D97-AF65-F5344CB8AC3E}">
        <p14:creationId xmlns:p14="http://schemas.microsoft.com/office/powerpoint/2010/main" val="1090242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69C64F-6991-4190-B677-8240F645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8AFD1-A52F-49D1-9CC6-A1B42383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Component lifecycle은 생성·연결·실행·정리 책임을 고정하는 프레임입니다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EB94D-3A2A-4E0F-813B-BB445074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632EC-CA49-4E44-B3AD-B3E44AF7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71052-0039-40C8-946B-B9481EC4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4F9AB-F908-4725-81D9-FE8A0AA4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5654B-77BD-472D-8427-3B420967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create</a:t>
            </a:r>
          </a:p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get cfg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D83A0-855E-4650-AFFC-A17C068C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ECF10-721D-4C39-A73D-D029B8EB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802F79-06C9-42CA-A1BD-167323FB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FA982-7AA6-4405-AB54-8908A602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TLM</a:t>
            </a:r>
          </a:p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bindings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48988-ABD8-4085-83BE-2108A917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108CD-7423-4805-A053-A8DE5687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EF68D-785C-4AEE-A142-246263AE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14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end_of_elab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55F61-C2AA-43FC-9ABC-1B9BCF63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topology</a:t>
            </a:r>
          </a:p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F4CD8-0DD6-44E4-852A-C80876F6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E0B17-BA9B-4B73-AC90-7EC9ECC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7A1CF-CAB0-4558-9AF1-6A4A7F5D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start_sim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4FB53-3B9C-4AF3-86C2-19A4B2A2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final</a:t>
            </a:r>
          </a:p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setup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836F2-394C-46C3-B73B-B643B40D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379FDD-BEB4-434B-91CE-521297B2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40DEB-E2FB-491C-9325-6B6BFE4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3D8DFF"/>
                </a:solidFill>
                <a:latin typeface="Menlo"/>
                <a:ea typeface="Menlo"/>
                <a:cs typeface="Menlo"/>
              </a:rPr>
              <a:t>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DE4DD-D3CD-4C5E-9534-8CE6B46E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timed</a:t>
            </a:r>
          </a:p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activity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63F925-E812-4E2A-B488-9042C8D5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74A28-85AE-48D1-91C2-81F02B08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9660A-D464-4E1F-AA27-53E219A2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extract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104ABB-E7AD-4BA8-8BE7-8013BBD5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collect</a:t>
            </a:r>
          </a:p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residue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8B5E8-4270-4A18-B600-253A7D41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79A18-63B0-4A31-993E-01EDC564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F9F42A-5E08-49BC-BF2C-750B50BE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check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2719C2-99E5-47E0-8A24-8B87DA4F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final</a:t>
            </a:r>
          </a:p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invariants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8C99C4-82D6-478F-A03E-ABE1388B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71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0E3AF7-8E6C-48B3-B1E2-483275B7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95500"/>
            <a:ext cx="1162050" cy="140970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A8DA69-C2A7-49DF-B837-06E56C11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43150"/>
            <a:ext cx="100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8DD33F-1D77-4D50-977F-BDEA97C0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14650"/>
            <a:ext cx="100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result</a:t>
            </a:r>
          </a:p>
          <a:p xmlns:a="http://schemas.openxmlformats.org/drawingml/2006/main">
            <a:pPr algn="ctr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F4F8EC-D14F-40F0-AAE5-7CDE8D5F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Top-down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9AA2F5-F4D6-4B2D-B309-861E7307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386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8DB6D9-1245-4FC2-AA08-7CF25D49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24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rPr>
              <a:t>Bottom-up / validation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178277-8570-4B1C-81E7-62D4FDE2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0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1F09B2-2332-4430-9E3F-1BCD32B7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24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7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B77500"/>
                </a:solidFill>
                <a:latin typeface="Apple SD Gothic Neo"/>
                <a:ea typeface="Apple SD Gothic Neo"/>
                <a:cs typeface="Apple SD Gothic Neo"/>
              </a:rPr>
              <a:t>Time-consuming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10F80F-42E4-4FCF-98AA-C77DE429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run_phase 이전에 구조 오류를 확정하고, check_phase에서 unmatched·outstanding을 최종 오류로 만듭니다.</a:t>
            </a:r>
          </a:p>
        </p:txBody>
      </p:sp>
    </p:spTree>
    <p:extLst>
      <p:ext uri="{BB962C8B-B14F-4D97-AF65-F5344CB8AC3E}">
        <p14:creationId xmlns:p14="http://schemas.microsoft.com/office/powerpoint/2010/main" val="806003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00962-1F91-41D5-B7D2-034389F1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FD0FB-859A-49B0-967F-D3C817E6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Objection은 end-of-test 수명 정책입니다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D057C-EE0C-44A8-8CFC-87DCB66E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B2D22-1422-423B-9589-3B3B4FD8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ED562-D9FE-46FB-B506-58322C07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57721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53C20-A628-4190-AAE9-BF5EB1E0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3911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task run_phase(uvm_phase phase);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phase.raise_objection(this, "scenario");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vseq.start(env.vseqr);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wait (env.sb.outstanding() == 0);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phase.drop_objection(this, "checked and drained");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F99E3-9150-49E6-A4E5-E0D3A01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05000"/>
            <a:ext cx="39052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D4EEC-9086-4817-ADBD-9E99ED7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14550"/>
            <a:ext cx="348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권장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19965-F4F5-473C-83B0-D9C640A6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3486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4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test 또는 최상위 virtual sequence가 소유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monitor/driver는 완료를 보고할 뿐 소유하지 않음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완료 조건 = stimulus done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           + scoreboard drained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           + outstanding 0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           + watchdog not expired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E099B-3FFA-488A-B8D1-A810F32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Drain time은 고정 지연일 뿐 완료 증명이 아닙니다. 종료 조건을 관측 가능한 상태로 모델링하세요.</a:t>
            </a:r>
          </a:p>
        </p:txBody>
      </p:sp>
    </p:spTree>
    <p:extLst>
      <p:ext uri="{BB962C8B-B14F-4D97-AF65-F5344CB8AC3E}">
        <p14:creationId xmlns:p14="http://schemas.microsoft.com/office/powerpoint/2010/main" val="4984140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AF822-6432-4146-B074-50C930D7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FB6C7-2531-4B82-9765-2AA493A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Factory는 구조적 변형을 주입하고, 실제 생성 타입을 추적하는 도구입니다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BDBC9-4B2E-42CE-9F4D-70734DEA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D7A2C-FE94-4202-AB83-B3C7D457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7F0AD-CF9E-4F6D-9CF5-720A4E81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9245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A6DDB-3D57-4A48-AFD7-148C28F6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543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type override: 모든 base_driver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base_driver::type_id::set_type_override(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err_driver::get_type());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instance override: 특정 경로만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base_seq::type_id::set_inst_override(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timeout_seq::get_type(), "env.a0.sqr.*");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6EFFD-0E9F-47CC-A7F4-29465B52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47850"/>
            <a:ext cx="3752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12E2D-0171-40BE-AD39-C6784DAE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Type override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7F79F-DEFF-4CD4-9E8E-8D08217D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전역 정책 변경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범위가 넓어 회귀 영향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B7F43-924E-46F4-BA34-13BFD9C0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95650"/>
            <a:ext cx="37528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4A702-0204-44E7-8167-C50D2B17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Instance override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C0358-E17A-4DAA-874F-D2F4035C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한 hierarchy 경로만 변경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경로 drift와 wildcard를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FB85A-2849-4A2F-AB82-3EF1ABF5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create는 type_id::create로 통일 · test 시작 전에 override 설정 · factory.print/trace로 결과 확인</a:t>
            </a:r>
          </a:p>
        </p:txBody>
      </p:sp>
    </p:spTree>
    <p:extLst>
      <p:ext uri="{BB962C8B-B14F-4D97-AF65-F5344CB8AC3E}">
        <p14:creationId xmlns:p14="http://schemas.microsoft.com/office/powerpoint/2010/main" val="18339578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61E60-1118-4114-AAC8-E9A18CD7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860E2-5F1A-479C-8A5B-31F6B948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config_db는 typed dependency 전달 계약입니다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5DEC2-90B0-40EF-AC89-B7F27860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2620F-0A68-4D9A-BF05-F6D470E6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D2D27-8DD5-4CEC-8230-42A4864F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6096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184FB-FDDF-4A95-930C-C8F36403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715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test: child build 전에 scoped set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uvm_config_db#(agent_cfg)::set(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this, "env.a0", "cfg", cfg);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agent: build에서 한 번 get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if (!uvm_config_db#(agent_cfg)::get(this, "", "cfg", cfg))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`uvm_fatal("NO_CFG", get_full_name())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9944B-ED1F-44CE-A173-B2EA546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검색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2F6BE-FB07-47A0-91D1-D982301F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19350"/>
            <a:ext cx="3048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D3AB7-5C6F-47C7-B335-7A9E5757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146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uvm_test_top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40242-EB98-4F58-A2E7-CA6F4E45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5336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3E6D5-D311-4517-B8C0-0BA4E942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201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env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E34BE-836F-42BE-8BF2-2D914376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33750"/>
            <a:ext cx="20193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EE4C7-F164-41E9-BB1C-E85DF545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40BE0-830B-422D-BB2B-B866663F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90950"/>
            <a:ext cx="1504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54F5B-7898-4B61-BE0F-2B06349A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862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666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driver / monitor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EABED-ECCC-4A60-B12D-6F227A8E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3524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scalar 다수보다 cfg 객체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wildcard는 최소화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vif/필수 설정은 즉시 fatal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+UVM_CONFIG_DB_TRACE로 충돌 추적</a:t>
            </a:r>
          </a:p>
        </p:txBody>
      </p:sp>
    </p:spTree>
    <p:extLst>
      <p:ext uri="{BB962C8B-B14F-4D97-AF65-F5344CB8AC3E}">
        <p14:creationId xmlns:p14="http://schemas.microsoft.com/office/powerpoint/2010/main" val="17166953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B6AEE-B180-48FB-82A9-A2DF68A2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D8B6B-2A75-4B4E-88F8-204E2043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6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Reusable Agent/UVC는 protocol mechanism과 product policy를 분리합니다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A638A-432D-4D7F-8E79-BE71786B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1AC2-57DA-427E-A4D2-A20B728E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97D50-AC16-4004-80B7-0332A793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CD3EF-812A-4766-9ABE-A4122291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Passive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4C85D-0DA8-4BCF-BD0F-F9A87F5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933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monitor는 항상 생성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analysis port로 관측값 공개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protocol checker / coverage는 옵션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DUT hierarchy를 내부에 넣지 않음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8AF39-707D-47D3-BC50-16CEBB5E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4E7FE-64DA-44DE-B224-52D5F700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574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Active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2E1B4-CCD5-4202-ACEE-FFA89D25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933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passive 구성 + driver + sequencer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is_active는 typed cfg가 소유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동일 monitor로 checking 일관성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B18B5-1650-4CB6-838B-98FF9620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FB798-E402-434F-AAC9-41C2E3DD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574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상위가 주입할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6DB5A-9C87-4CDF-8928-BBC494A5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2933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virtual interface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address / timing policy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feature enable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error injection / compare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1A025-663E-4479-A21D-C72DD993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재사용성의 기준: 다른 DUT·subsystem에서 UVC 내부 코드를 수정하지 않고 config와 연결만 바꿀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2794842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AA8946-85B2-443D-BFDE-386D4606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DFD68-7D00-465C-8A3C-123D89BB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Sequence–Driver handshake의 blocking 지점을 이해합니다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4F216-F3CA-4DBA-84A3-379CCA46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7AA71-571E-46A3-BA6B-76647C54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3145B-46FF-44B8-BA04-64FB9FE2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5621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E86F1-53F9-4279-AFB3-0E3136EF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1562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152BA-B044-4FB4-8B54-B6D93AFE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526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BEC8E-2EB3-4691-8366-5469636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15621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8090B-E766-4137-982C-E187497C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0225"/>
            <a:ext cx="1562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sequencer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20674-7B36-4D75-A028-5B9ED198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4C605-91C4-431A-9624-DC061A41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52600"/>
            <a:ext cx="15621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A0DA0-3E25-41BB-9FE9-B402F4F3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0225"/>
            <a:ext cx="1562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driver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2DA5F-C79E-46D2-9B27-D08A7CE9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19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A8503-C675-4384-BC78-DB44812C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288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84FBD-DE07-4129-AFC3-821C41A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574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747A0-602E-4B3F-BEFD-5F00974B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1812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start_item(req)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6CB08-015F-476B-B595-555F1723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708F1-000E-4256-9E26-967372A6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7DC38-7557-4D68-9789-B1F982FA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05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randomize + finish_item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09F9E-C17F-4278-84D1-6EE9A8B6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76625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CFA81-02EE-43FE-88CB-C085C998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051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EA941-C5A5-4011-908D-118B38D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289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get_next_item(req)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862F4-9638-49D6-8F59-AE703F71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9EA46-8D74-4EC2-8B5A-FDF6434C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534A2-3DF3-4055-8320-8579D4C1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grant / request 전달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F07CF-BBF1-407A-B3F4-948D9084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482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0A3FFA-8DA2-40D8-82CA-D7EF1B28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768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7F833-6E49-4A66-856C-8D1C283E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006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item_done(rsp)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084C4-62C1-4EEC-89A1-E01B8C2D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24350"/>
            <a:ext cx="1314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0DC617-91DC-4D58-850C-E4B812A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48175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drive protocol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72D6DA-1D19-4BFF-B5E9-AD322E0C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규칙: get_next_item/item_done 쌍과 get/put 흐름을 섞지 않으며, response에는 request ID를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18337659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66C1D-730C-42A5-970A-C80611FB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4336D-6422-4B34-8B63-29A624F5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Advanced sequence: 병렬성·자원·응답 순서를 정책화합니다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931A6-8E45-4F14-A62A-EBA1AE53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BFF10-0313-4EC8-8867-E90C262B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311C9-163F-4039-9AA9-F852F4DE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3147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05765-051F-437D-B8DD-36F52468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Virtual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A014F-12CC-4BF5-A64E-8A206F9E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2895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여러 sequencer의 use case 조율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protocol detail은 child sequence에 유지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virtual sequencer는 선택 사항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D5353-E02D-4DD9-A72B-ACA287E6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33147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C2336-A64E-45BC-925F-F6F7BB38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Arbitration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F7590-6762-4119-8212-8F8E8DC1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14600"/>
            <a:ext cx="2895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priority / weighted / FIFO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lock·grab은 짧게 유지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starvation과 exclusive traffic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D0538-63C0-43B6-91BD-26BE9A06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33147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50F80-78EB-4D2F-8139-4D98C04A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Response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340DE-A5B4-4426-A2F5-263939C2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895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in-order / out-of-order를 먼저 결정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request_id / transaction_id 책임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queue overflow·timeout·reset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5E2E1-4031-4B81-8167-CA24FDA0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p_sequencer 의존은 결합도를 높일 수 있습니다. typed sequencer handle 또는 context 객체 전달과 비교해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16503411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01E67-B3E6-4645-A5E2-7A20A677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A1CE2-3F18-4FDB-B473-F81C03E1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TLM analysis: broadcast와 비동기 처리를 분리합니다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2988A-656B-498C-A5D2-8DBBD31B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E1956-745F-4FE2-B2AD-36141333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B4905-93C2-4E50-8D5A-2D18BBFC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20955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60224-9F63-4417-A9F3-95DC43C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monitor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5E40F-D095-4F42-8112-E6C063D3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analysis_port.write(tx)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400BE-8E0D-448B-B710-E3B020AD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2324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A8EEA-57EE-4883-9D17-1BAE8458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57400"/>
            <a:ext cx="201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scoreboard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E2B42-1A7E-4895-B35E-340D3AF1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194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51992-B5D3-472D-B958-A7FD02F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09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448C7-7634-4409-9F6B-6998E07B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288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FCEB0-2ACE-4EB5-B4A1-A2316834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2324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D7DD2-86CF-49CA-B0AC-6CA4C3DB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90900"/>
            <a:ext cx="201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6EE16-1917-4C85-B8F6-B676ADD8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194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D1747-4FE6-4A35-9CFE-DD3279EF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19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E5037-EE15-4ED3-B950-F817E161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623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76E4C4-092C-4988-8453-47CBD92E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324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2A729-8024-4AF0-BF54-1DA6ED59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24400"/>
            <a:ext cx="201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recorder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A99D5-4F3B-4613-9512-92932FD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19400"/>
            <a:ext cx="133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80265-A9DA-40D4-84D3-D941F282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190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F1F65-8EFD-47B4-8268-9C00118B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69582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5202B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BCC80F-6D7E-47F7-9AC0-9D856BB7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47850"/>
            <a:ext cx="36385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60035-F66C-46BD-8E36-29D64AD3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5740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핵심 계약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A30F7-E494-4D7C-AA5F-41D96F3B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32194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write()는 function: block 금지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fan-out에는 같은 object handle이 전달될 수 있음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subscriber가 보관하면 clone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느린 처리는 uvm_tlm_analysis_fifo로 분리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• port / export / imp의 요구·제공 방향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9F524-5E92-46F1-8AD7-32338F34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Monitor는 관찰에 집중하고, consumer의 처리 속도와 실패 정책에 결합되지 않아야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0338219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3CE1B5-21C2-4619-8CAE-F87A59DC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3EB78-C546-424C-BD90-B4277DB3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Scoreboard는 비교 함수보다 matching·timeout·reset 정책이 핵심입니다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781B8-083B-4E45-A6C8-CD1621AF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24BC7-5C44-4934-B136-8D83D8A6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9A502-E9FD-4712-B7B5-AB11D82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11201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37046-08CB-47E5-B267-F9F6FB6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In-order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8B023-E378-4CED-9CFD-782F3503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943100"/>
            <a:ext cx="862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exp_q[0] ↔ act_q[0] · 단일 순서가 보장될 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BDC70-B90E-4BEC-B8F7-B9F8A5DD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1201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7C090-37DE-4630-BC94-1EF21363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Keyed OOO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09072-C5A7-4436-B11B-697311FB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862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transaction ID / tag / address로 expected와 actual을 매칭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85E48-69E3-4980-856B-C566DF62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11201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0B57D-4160-4411-AC18-DAFB1500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Windowed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AE297-5012-4B0F-A429-51B1F832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76600"/>
            <a:ext cx="862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허용 latency window 안의 후보를 매칭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9A1C4-1CBD-4AF7-9B68-955D8238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11201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62D5B-5A6E-4949-8831-BD3B884D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Stateful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10276-E36A-4CC4-A920-658CA7F6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43350"/>
            <a:ext cx="862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reference model의 상태 전이와 side effect를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7DE25-E7BD-4474-AFF4-50B560A7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5143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DE4F7-43C3-4557-967F-25855C58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Reset / flush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89688-C0A4-4749-BDF0-81D8758C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00675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epoch 증가 → pre-reset queue와 predictor 상태 정리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76C44-4A49-4D64-9BA4-F5895DCB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5619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F42FF9-D077-4E58-B8AD-3A11F340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911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4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Final invariant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9ECDEF-A628-4E6A-AE11-2E3F6385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006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check_phase: unmatched·duplicate·missing·outstanding·timeout</a:t>
            </a:r>
          </a:p>
        </p:txBody>
      </p:sp>
    </p:spTree>
    <p:extLst>
      <p:ext uri="{BB962C8B-B14F-4D97-AF65-F5344CB8AC3E}">
        <p14:creationId xmlns:p14="http://schemas.microsoft.com/office/powerpoint/2010/main" val="6778852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748F04-E475-44C4-96D7-B9406BBA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947A3-2368-4162-9AC1-8ACDA874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RAL은 model·prediction·mirror 일관성을 관리합니다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27E43-C18F-4D62-879B-14288FE5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F8A3B-06BE-411A-A9CF-36C57B0E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6D2A6-4CC9-4739-8140-5FC496A0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DFC3F-75FD-4B4F-B5C2-A81EDC75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reg 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84A4B-AE4B-49B4-BC84-2A5F1628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read/write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3FECB-A7E1-4238-A684-54E0B084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860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EDC4B-3A8F-4A5F-9FD9-A354591A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4D571-0A7F-4516-A107-654B62D4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D7842-AB6B-471D-BCCF-CD51DEF2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reg ↔ bus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11680-4544-4E3E-BDC2-44D5E97B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860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2A352-0C3B-410A-90AE-B97563C6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96986-60DA-46FA-99C8-77643340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bus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F7F94-A678-4646-9795-A0C351FA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frontdoor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0F39B-9210-4F3A-B321-CE20523D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860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8DAE1-063C-4F62-868B-E9C5D05B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41DBD-7F7D-4F44-B0CD-BDAFEF31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monitor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FBFF86-CB6C-4C31-A7DB-387CF3BB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observed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6B1F7-FAE8-44DE-B8EF-8BB1F900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173F4-C3E0-4AD2-95DD-CCCB92A7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F98E0-FAF6-4344-9AC8-3ECD8952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predictor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319150-1E76-4F66-912C-9D55D938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predict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05C97-8D3B-439E-A470-F8746BAC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6DBD2-595A-43BA-9E93-66D69138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24050"/>
            <a:ext cx="1504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A9FEAD-75EF-44B8-872A-761C1BEF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mirror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999FE-EDD4-42F9-A558-93420DE9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model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436B6E-D04B-44B1-BCA1-BAB91FD0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11201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86FD6B-74F5-4359-BF84-534D9D40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get / set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6FCDE-1D61-4C95-A95F-C816C836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19500"/>
            <a:ext cx="853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desired·mirror 값을 모델에서 조회/변경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E8B700-0CF8-4DCB-B75D-80B1BE49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11201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24D25E-1C64-4722-A13B-5EA7C693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read / write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4A385-AE3D-4274-B4C6-676C2FF4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52900"/>
            <a:ext cx="853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frontdoor 또는 backdoor로 DUT 접근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C77817-3B38-4890-BB12-5FBC91FB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11201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6838D5-0750-498B-B6D7-CC78D9DD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mirror / update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7C975D-011E-4F8A-9648-087B3C2F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853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DUT와 model 동기화 및 비교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86E49B-A323-43BD-9B38-206B7006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86350"/>
            <a:ext cx="11201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9ED499-283B-4387-844C-DB8974E1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peek / poke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8CAFE5-3396-4CA5-A2A1-693A01B4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19700"/>
            <a:ext cx="853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backdoor raw 접근; protocol side effect를 우회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9F3312-B6FC-4182-929B-15C818D4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auto-predict와 explicit predictor 중 하나의 일관된 전략을 선택하고 volatile·W1C·read-clear를 별도 검토합니다.</a:t>
            </a:r>
          </a:p>
        </p:txBody>
      </p:sp>
    </p:spTree>
    <p:extLst>
      <p:ext uri="{BB962C8B-B14F-4D97-AF65-F5344CB8AC3E}">
        <p14:creationId xmlns:p14="http://schemas.microsoft.com/office/powerpoint/2010/main" val="2499011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E1A46-241E-44B2-858D-0E7FF064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A107E-8B40-4025-9C92-30CAD9CB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SVA는 protocol 규칙을 실행 가능한 contract로 가장 가까운 곳에 둡니다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8D7D9-171B-4793-9051-9D2071E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A7BE8-7AC5-4FF5-BE3E-A4B5DA10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53553-901E-4211-AD2C-362A7565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61912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CBFB2-1212-44AF-98FB-4801A0BC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81025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property p_stable_until_ready;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@(posedge clk) disable iff (!rst_n)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valid &amp;&amp; !ready |=&gt; valid &amp;&amp; $stable(data);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endproperty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a_stable: assert property (p_stable_until_ready)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else $error("data changed while stalled");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c_stall: cover property (@(posedge clk) valid &amp;&amp; !ready);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DC70A-959F-4BB2-A69E-DBE1780C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24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해석 체크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8668E-8EF7-419C-9A48-B8A12BF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0300"/>
            <a:ext cx="37147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|-&gt;  같은 cycle부터 consequent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|=&gt;  다음 cycle부터 consequent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disable iff  비동기 abort 의미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$past  history 유효성·reset 고려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X/Z  4-state 비교 의미 검토</a:t>
            </a:r>
          </a:p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cover property  antecedent 도달성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8DC93-A959-4883-B3AE-E38D5D11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243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Vacuous pass를 ‘검증 성공’으로 오해하지 않도록 antecedent coverage와 assertion coverage를 함께 봅니다.</a:t>
            </a:r>
          </a:p>
        </p:txBody>
      </p:sp>
    </p:spTree>
    <p:extLst>
      <p:ext uri="{BB962C8B-B14F-4D97-AF65-F5344CB8AC3E}">
        <p14:creationId xmlns:p14="http://schemas.microsoft.com/office/powerpoint/2010/main" val="10325535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4672A-593C-415C-BC62-A5D54D2D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013AB-2738-4474-A72D-081FCEB5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Functional coverage는 요구사항을 상태 공간으로 번역합니다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223E1-CE1E-476D-A29F-2D50C477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291A6-0654-42D1-B0D4-A351C65A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2E6E7-A2A8-47E5-8782-DA51999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61150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3FD36-8FBA-489E-88B8-AD05B4C6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7340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covergroup cg with function sample(pkt t);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cp_op  : coverpoint t.op;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cp_len : coverpoint t.len {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bins short = {[1:4]};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bins long  = {[5:16]};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x_op_len : cross cp_op, cp_len;</a:t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accepted + checked transaction에서 정확히 한 번 sample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FBEFA-7B08-4735-9F7D-E5784E1E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4000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979B6-B3D8-4A8D-8AA3-C28904B1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1452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92BF7-FFAF-47E9-BF78-085307E5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66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C02AC-6F0E-4BD9-B9FE-A4E1A1D0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52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기능·조건·예외를 문장으로 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D0880-C593-420D-8322-3E960493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4000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AB982-198C-4A06-BE31-035BC9CE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5747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B61B7-CB1B-407D-8A3B-D76CF427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098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Sample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124EA-B6D3-4C29-9B13-942A5F91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valid/accepted/checked 중 의미 있는 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CFE87-2056-4BD6-BEF3-B5783EA6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4000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BA196-F054-4F32-B1B8-470F26AC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0042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E3850-8593-494B-912D-6DF60A47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Bins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B0CE6-CA54-4B33-AB1D-48A32D65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385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명시적 의미와 stable naming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D75CE-A645-4090-B2EB-3B9E6E11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4000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88B66-58DB-4142-A846-7C40E970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4337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883B8-6313-48E0-93BD-68FF0FC5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95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Cross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33E3C-039C-4897-AFD1-12C03DD1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81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의미 있는 상호작용만 제한적으로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B82F1-1F3E-46BC-8153-0B541A06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3829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illegal_bins는 checker 대체물이 아닙니다. 오류 의미는 assertion/scoreboard에서 판정합니다.</a:t>
            </a:r>
          </a:p>
        </p:txBody>
      </p:sp>
    </p:spTree>
    <p:extLst>
      <p:ext uri="{BB962C8B-B14F-4D97-AF65-F5344CB8AC3E}">
        <p14:creationId xmlns:p14="http://schemas.microsoft.com/office/powerpoint/2010/main" val="3788350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B18D45-EB53-4D50-9A1D-E260506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18A1E-05BC-409E-B232-B4E803DD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Coverage closure는 sign-off evidence를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C9946-673F-49A7-82BA-9671DE7C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6E47C-638B-4B3B-9A86-9DF94E69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D9795-1D78-4914-B122-8C9B3B5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DD0FC-BAB5-4066-B7C5-05C3CF81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Requirement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59354-D64B-4FB3-9529-D7D1A19D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FD364-981D-47D5-96B6-8E42F36A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3EF21-6657-4FB6-94A6-2F981188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Stimulus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7EC74-9534-4BE3-BC86-8076163F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07C8C-E4E4-483B-B265-8023F7C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A0FA7-4A53-4E75-AB4C-BF96B77B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Checker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C33D8-1CD0-4836-A3AC-B68778DA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69C63-87BB-41EA-B600-93595782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F7D3D-520B-4EBD-993B-CCA07E94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8EF94-ED98-4412-8F6F-F181220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26668-F609-486B-857B-8D8B40F8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B0F69-8D21-4181-8405-06BF646F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Regression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7A640-F7F8-4576-B7F9-4E224757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C9CFD7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5FA61-B375-49A7-8A28-281DE533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05000"/>
            <a:ext cx="1504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2DA1A-0DEF-4CE9-ACB9-2FB8922A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71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Waiver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4E5D7-981D-4D83-B6C9-DA78BA19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22685-B21A-4757-A5AA-5E280E1D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Unreachable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622F7-2DA4-46AB-8B0E-6F5E4A90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853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spec/architecture 근거 + 리뷰 가능한 waiver + 추적 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4EB5B-8F22-4269-8C63-FA83A565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6EB7D-7D25-43A5-BEF1-66653DE0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Legal but unhit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3B545C-2A96-4EBC-B279-6BC1F9CA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76700"/>
            <a:ext cx="853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constraint·scenario·test intent를 보강하고 targeted test로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4D35C-6003-4D97-A76E-71DA4894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22B34-B6DD-4E87-A3CA-4F374547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Hit but untrusted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09CA5B-E663-450C-95D3-A5AE7FB3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43450"/>
            <a:ext cx="853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sampling·checker·test quality를 재검증; 단순 hit를 증거로 보지 않음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28BBE0-0740-4F0D-875E-1A8F0EBA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76850"/>
            <a:ext cx="11201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DC0B77-2F80-46F2-B062-9030D7ED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Cross explosion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20C13E-9A1B-4B76-9375-0994364B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10200"/>
            <a:ext cx="853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요구사항과 무관한 cross 제거; bin count보다 의미를 우선</a:t>
            </a:r>
          </a:p>
        </p:txBody>
      </p:sp>
    </p:spTree>
    <p:extLst>
      <p:ext uri="{BB962C8B-B14F-4D97-AF65-F5344CB8AC3E}">
        <p14:creationId xmlns:p14="http://schemas.microsoft.com/office/powerpoint/2010/main" val="11176923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A1A16-8D65-4528-AEA6-8EB48096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9E2D7-4707-4D5D-AE7A-75D848FA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Debug는 최초 divergence를 구조적으로 좁히는 과정입니다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2FE09-FF2A-4136-A78F-05E92591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E7269-541E-4A7F-84D4-339D261D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C291E-1877-407C-98DB-9CD609BE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3716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0F355-D927-47C0-8AEC-B726432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022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1. 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2222C-F83F-4F19-93AD-F7C164D8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8117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test · seed · simulator · compile options · UVM version 고정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769E1-68F9-4A8B-BC7D-A7F5977B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F779E-5786-4FCE-BCDA-9A423968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33650"/>
            <a:ext cx="13716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B051D-D47A-452F-9F24-0A83E569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8127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2. 분류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D24F5-AE63-4E85-8417-F0D244D6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622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compile / elaboration / runtime / functional / performance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41051-2A56-4898-8354-88A775E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963AB-3E89-407E-9E87-DC495226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13716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21179-ED48-4274-AB9C-E8DEF914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6232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3. 구조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5FAF5-1A18-4DDA-9717-F7C2A7AC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4327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topology → factory → config DB → phase → objection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539CC-376D-41C4-89E7-C39DE99D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0C5E0-F288-4982-AC48-84FC5A8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13716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4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57EE4-198C-4287-A4EF-78ED3694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4337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rPr>
              <a:t>4. 최초 차이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D20FE-DAC9-463C-BF21-FCC7477A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2432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request → drive → observe → predict → compare timeline 추적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4616B-FA6B-45F7-85B5-458DCEC4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194D9-D963-44EF-93B9-E645DF64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13716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D4C68-FE67-49B8-AFE7-2C0A7B0D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24425"/>
            <a:ext cx="1371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5. 축소·방지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5A451-A859-4954-8136-37680236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0537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최소 sequence로 축소하고 assertion·coverage·regression 추가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1D277-E272-464F-BA0E-E4985999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49619-E557-4DF5-9658-F184A25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로그에는 seed, transaction ID, stream, phase, reset epoch, protocol state를 공통 correlation key로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3366193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75C5C-430A-4147-BBBD-B08F3B51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4A258-5EA5-4296-9D7C-9FCDCC06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성능과 확장성은 hot path를 측정한 뒤 이식성 비용까지 함께 최적화합니다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F3F0B-B0E1-4ABB-BB33-BFF9A55C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49A99-79FA-4165-9E29-3A2C19AB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89036-3F99-4CEA-9EB9-6CDF4F06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1201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E9BC7-255D-46E6-945B-C905E003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config/resource wildcard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FDF89-8561-4647-92E4-F6539BEF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478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build에서 handle resolve · runtime 반복 lookup 제거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2320C-CB76-4B75-86B8-02F625C9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1201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6BCBE-B2E7-4387-8F4F-31CE892F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field automation / deep clone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D6573-655F-43BB-935D-35D20F61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1460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필요한 copy/compare/pack만 명시 · immutable snapshot 활용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5338B-8EA1-4BF4-A32C-56AF9911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11201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A96E3-CFF9-4499-A770-45F90E81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문자열 로그·recording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9D20C-FF57-4495-9C39-E6652F31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813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verbosity gate · 실패 구간만 transaction/waveform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7A386-1197-40AA-8CE3-5B85D977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11201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9DAD8-9F18-4B78-BC4C-C613131A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거대한 cross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C9638-2A4D-42D1-B86A-069C4E46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4810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요구사항 기반 bins · ignore/merge 전략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2E72D-9688-4E33-BCBE-52CDB5D2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11201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4D8C7-BBFB-4118-82E4-A2F46967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RAL 이름 검색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51190-305C-49F6-A2BE-DFF06794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14850"/>
            <a:ext cx="758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full-name cache 또는 handle 사전 보관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22E61-54DA-4936-ABBF-C13B35E8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112014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FFE3B-AD18-4827-B7D2-5B993C27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2020.3.1 참고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CB3164-96E7-4095-86EF-07B8A017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9725"/>
            <a:ext cx="851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regex/resource DB cache와 RAL lookup 최적화는 측정 후 선택 적용하고, compile define·save/restore·이식성 영향을 문서화합니다.</a:t>
            </a:r>
          </a:p>
        </p:txBody>
      </p:sp>
    </p:spTree>
    <p:extLst>
      <p:ext uri="{BB962C8B-B14F-4D97-AF65-F5344CB8AC3E}">
        <p14:creationId xmlns:p14="http://schemas.microsoft.com/office/powerpoint/2010/main" val="126692596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809C4-1682-44C4-921D-3C535CDD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UVM · SYSTEMVERILOG  |  PRACTITIONER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B4A5E-9F91-492C-9E6A-127599B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163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실무 Anti-pattern: 책임과 데이터 흐름부터 바로잡습니다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C26E0-706F-4FF1-834D-12CB40C0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25A2D-01B5-44F6-A139-4D3201D2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D2750-53D8-4ADB-9089-9225E1D0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D9534F"/>
                </a:solidFill>
                <a:latin typeface="Apple SD Gothic Neo"/>
                <a:ea typeface="Apple SD Gothic Neo"/>
                <a:cs typeface="Apple SD Gothic Neo"/>
              </a:rPr>
              <a:t>문제 패턴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D8E56-59C1-4202-A9AF-6A746ED2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805B"/>
                </a:solidFill>
                <a:latin typeface="Apple SD Gothic Neo"/>
                <a:ea typeface="Apple SD Gothic Neo"/>
                <a:cs typeface="Apple SD Gothic Neo"/>
              </a:rPr>
              <a:t>권장 대안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F0A13-EB39-4588-B6BD-B018F5DA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109A87-FF24-4237-B090-000D615A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직접 new 남발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95E21-34B7-4968-A65D-2E0761EA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14550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factory create + override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9A4E0-32E2-4F99-8A6E-2C64FCD8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43175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C92EC-34E0-4EBF-A812-A57547E5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set(null, "*", ...)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264D4-5189-42F2-A3A7-04FF3AD8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76525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scoped typed config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E659D-4980-4FAF-9FEA-C32470C4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AEDA2-C89E-478F-B171-C088F388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monitor/driver objection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F42CA-3C80-4D1D-9753-ABA7FA6C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38500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top-level completion owner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056BE-E403-48CE-B8C6-8AD6C41D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9FA72-2B8C-4FFE-B3ED-523C5190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공유 mutable transaction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AD086-5F66-44EE-B1E8-4EEAF2FC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800475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fresh object 또는 clone/immutable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F3A40-6BE7-4ECF-86CF-B1119AA1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0BDA2-F57B-4632-8A7F-E0BF3F04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scoreboard write()에서 block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7C251-57A7-4FE4-9BA0-56BBEB2D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62450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enqueue + worker/FIFO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500BA-3475-4257-ADED-56672C1F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91075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C402F-F7BE-4857-A8ED-9A55DC2C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driver 기반 expected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34BDD-12F7-440F-B6E5-B4D6BC34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924425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독립 predictor + monitor actual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D3614-782E-4EC4-80B8-4A1588A9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112014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DDFEE-D4F1-49E1-AAD6-62AA19DF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randomize 실패 무시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97754-F55E-40D1-BF33-99CAFF9D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486400"/>
            <a:ext cx="748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assert/fatal + 최소 충돌 분석</a:t>
            </a:r>
          </a:p>
        </p:txBody>
      </p:sp>
    </p:spTree>
    <p:extLst>
      <p:ext uri="{BB962C8B-B14F-4D97-AF65-F5344CB8AC3E}">
        <p14:creationId xmlns:p14="http://schemas.microsoft.com/office/powerpoint/2010/main" val="20346780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57FD0-480D-4319-B0A2-810EED19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Production-ready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ED76A-23DA-4E7A-A52E-0C71F4E7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좋은 환경은</a:t>
            </a:r>
          </a:p>
          <a:p xmlns:a="http://schemas.openxmlformats.org/drawingml/2006/main">
            <a:pPr algn="l">
              <a:def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실패의 이유와</a:t>
            </a:r>
          </a:p>
          <a:p xmlns:a="http://schemas.openxmlformats.org/drawingml/2006/main">
            <a:pPr algn="l">
              <a:def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검증의 빈틈이 보입니다.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A583E-D9AE-4592-A75A-B176DC49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5048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520A3-B159-45B6-8CF1-9899E559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핵심 원칙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D572A-2065-4417-AE1D-C2E3F9A2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619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1. 실행 시점과 객체 ownership을 명시</a:t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2. monitor 관측값에서 checking 시작</a:t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3. 종료 조건과 outstanding을 상태로 모델링</a:t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4. requirement–checker–coverage–regression을 연결</a:t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5. 표준 API를 우선하고 성능은 측정 후 최적화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4A89D-010E-4AFF-821C-041E5F99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123950"/>
            <a:ext cx="3276600" cy="379095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715C9-F0A5-445E-9779-BB44B37C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공식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7DC5F-D454-4716-AC5E-E73FA606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6860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9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IEEE 1800-2023</a:t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SystemVerilog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IEEE 1800.2-2020</a:t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UVM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Accellera UVM 2020.3.1</a:t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Reference 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B7400-B1D2-4DFC-A9C4-54913C5E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71950"/>
            <a:ext cx="16764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97DFA-E26E-4DC2-A57A-4253E65A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1676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standards.ieee.org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BBC9E-C576-40E8-8E8B-CBC8E6B7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71950"/>
            <a:ext cx="10477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2683BA-FEB6-4BAA-870E-51BA2E3D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19575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101318"/>
                </a:solidFill>
                <a:latin typeface="Apple SD Gothic Neo"/>
                <a:ea typeface="Apple SD Gothic Neo"/>
                <a:cs typeface="Apple SD Gothic Neo"/>
              </a:rPr>
              <a:t>accellera.org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36F2D-2EA3-4118-83BD-963F4231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5E6875"/>
                </a:solidFill>
                <a:latin typeface="Apple SD Gothic Neo"/>
                <a:ea typeface="Apple SD Gothic Neo"/>
                <a:cs typeface="Apple SD Gothic Neo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9468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2026-07-30T05:10:18.6780000Z</dcterms:created>
  <dcterms:modified xsi:type="dcterms:W3CDTF">2026-07-30T05:10:18.6780000Z</dcterms:modified>
</coreProperties>
</file>