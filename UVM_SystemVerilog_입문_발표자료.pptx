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497e1311894276" /><Relationship Type="http://schemas.openxmlformats.org/officeDocument/2006/relationships/extended-properties" Target="/docProps/app.xml" Id="R0905a1c5ba8a4718" /><Relationship Type="http://schemas.openxmlformats.org/officeDocument/2006/relationships/officeDocument" Target="/ppt/presentation.xml" Id="Rfa929360be2e42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dc997155c146d2"/>
  </p:sldMasterIdLst>
  <p:notesMasterIdLst>
    <p:notesMasterId xmlns:r="http://schemas.openxmlformats.org/officeDocument/2006/relationships" r:id="R317324ff21a6457f"/>
  </p:notesMasterIdLst>
  <p:sldIdLst>
    <p:sldId xmlns:r="http://schemas.openxmlformats.org/officeDocument/2006/relationships" id="256" r:id="R39b5f5267c6b44de"/>
    <p:sldId xmlns:r="http://schemas.openxmlformats.org/officeDocument/2006/relationships" id="257" r:id="Rd3e1ce7e92a84eaa"/>
    <p:sldId xmlns:r="http://schemas.openxmlformats.org/officeDocument/2006/relationships" id="258" r:id="R637264d02e624f00"/>
    <p:sldId xmlns:r="http://schemas.openxmlformats.org/officeDocument/2006/relationships" id="259" r:id="Re5c1306906974d2e"/>
    <p:sldId xmlns:r="http://schemas.openxmlformats.org/officeDocument/2006/relationships" id="260" r:id="Rc25d56bc12ba431a"/>
    <p:sldId xmlns:r="http://schemas.openxmlformats.org/officeDocument/2006/relationships" id="261" r:id="Raee6da8bf7854485"/>
    <p:sldId xmlns:r="http://schemas.openxmlformats.org/officeDocument/2006/relationships" id="262" r:id="R4c1dd4f66c734a54"/>
    <p:sldId xmlns:r="http://schemas.openxmlformats.org/officeDocument/2006/relationships" id="263" r:id="R5d99b8505a4142b9"/>
    <p:sldId xmlns:r="http://schemas.openxmlformats.org/officeDocument/2006/relationships" id="264" r:id="R442dde08900e4d74"/>
    <p:sldId xmlns:r="http://schemas.openxmlformats.org/officeDocument/2006/relationships" id="265" r:id="R620779e4690445f0"/>
    <p:sldId xmlns:r="http://schemas.openxmlformats.org/officeDocument/2006/relationships" id="266" r:id="Refa99535f10446c6"/>
    <p:sldId xmlns:r="http://schemas.openxmlformats.org/officeDocument/2006/relationships" id="267" r:id="Rd82cf51ea9c84666"/>
    <p:sldId xmlns:r="http://schemas.openxmlformats.org/officeDocument/2006/relationships" id="268" r:id="Rc648dc20601a4814"/>
    <p:sldId xmlns:r="http://schemas.openxmlformats.org/officeDocument/2006/relationships" id="269" r:id="R79fc10ffdb1f4995"/>
    <p:sldId xmlns:r="http://schemas.openxmlformats.org/officeDocument/2006/relationships" id="270" r:id="Reb80074b451c44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ff8862710b4915" /><Relationship Type="http://schemas.openxmlformats.org/officeDocument/2006/relationships/slideMaster" Target="/ppt/slideMasters/slideMaster1.xml" Id="Re9dc997155c146d2" /><Relationship Type="http://schemas.openxmlformats.org/officeDocument/2006/relationships/notesMaster" Target="/ppt/notesMasters/notesMaster1.xml" Id="R317324ff21a6457f" /><Relationship Type="http://schemas.openxmlformats.org/officeDocument/2006/relationships/presProps" Target="/ppt/presProps.xml" Id="R9cac1c9567d543b3" /><Relationship Type="http://schemas.openxmlformats.org/officeDocument/2006/relationships/tableStyles" Target="/ppt/tableStyles.xml" Id="Red0f0d42e7fc470e" /><Relationship Type="http://schemas.openxmlformats.org/officeDocument/2006/relationships/slide" Target="/ppt/slides/slide1.xml" Id="R39b5f5267c6b44de" /><Relationship Type="http://schemas.openxmlformats.org/officeDocument/2006/relationships/slide" Target="/ppt/slides/slide2.xml" Id="Rd3e1ce7e92a84eaa" /><Relationship Type="http://schemas.openxmlformats.org/officeDocument/2006/relationships/slide" Target="/ppt/slides/slide3.xml" Id="R637264d02e624f00" /><Relationship Type="http://schemas.openxmlformats.org/officeDocument/2006/relationships/slide" Target="/ppt/slides/slide4.xml" Id="Re5c1306906974d2e" /><Relationship Type="http://schemas.openxmlformats.org/officeDocument/2006/relationships/slide" Target="/ppt/slides/slide5.xml" Id="Rc25d56bc12ba431a" /><Relationship Type="http://schemas.openxmlformats.org/officeDocument/2006/relationships/slide" Target="/ppt/slides/slide6.xml" Id="Raee6da8bf7854485" /><Relationship Type="http://schemas.openxmlformats.org/officeDocument/2006/relationships/slide" Target="/ppt/slides/slide7.xml" Id="R4c1dd4f66c734a54" /><Relationship Type="http://schemas.openxmlformats.org/officeDocument/2006/relationships/slide" Target="/ppt/slides/slide8.xml" Id="R5d99b8505a4142b9" /><Relationship Type="http://schemas.openxmlformats.org/officeDocument/2006/relationships/slide" Target="/ppt/slides/slide9.xml" Id="R442dde08900e4d74" /><Relationship Type="http://schemas.openxmlformats.org/officeDocument/2006/relationships/slide" Target="/ppt/slides/slide10.xml" Id="R620779e4690445f0" /><Relationship Type="http://schemas.openxmlformats.org/officeDocument/2006/relationships/slide" Target="/ppt/slides/slide11.xml" Id="Refa99535f10446c6" /><Relationship Type="http://schemas.openxmlformats.org/officeDocument/2006/relationships/slide" Target="/ppt/slides/slide12.xml" Id="Rd82cf51ea9c84666" /><Relationship Type="http://schemas.openxmlformats.org/officeDocument/2006/relationships/slide" Target="/ppt/slides/slide13.xml" Id="Rc648dc20601a4814" /><Relationship Type="http://schemas.openxmlformats.org/officeDocument/2006/relationships/slide" Target="/ppt/slides/slide14.xml" Id="R79fc10ffdb1f4995" /><Relationship Type="http://schemas.openxmlformats.org/officeDocument/2006/relationships/slide" Target="/ppt/slides/slide15.xml" Id="Reb80074b451c44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41a6750eb143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d232ca8f6b448b" /><Relationship Type="http://schemas.openxmlformats.org/officeDocument/2006/relationships/notesMaster" Target="/ppt/notesMasters/notesMaster1.xml" Id="R24844959857644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21c1bf0cee43bd" /><Relationship Type="http://schemas.openxmlformats.org/officeDocument/2006/relationships/notesMaster" Target="/ppt/notesMasters/notesMaster1.xml" Id="R5fd7d664540b4d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55514e113341f6" /><Relationship Type="http://schemas.openxmlformats.org/officeDocument/2006/relationships/notesMaster" Target="/ppt/notesMasters/notesMaster1.xml" Id="R9e9c9c70e1fd44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858d420fb944aa" /><Relationship Type="http://schemas.openxmlformats.org/officeDocument/2006/relationships/notesMaster" Target="/ppt/notesMasters/notesMaster1.xml" Id="R546889c72e0644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3de9a431e34362" /><Relationship Type="http://schemas.openxmlformats.org/officeDocument/2006/relationships/notesMaster" Target="/ppt/notesMasters/notesMaster1.xml" Id="Rb2ac6b3d628947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a36c504c3a4357" /><Relationship Type="http://schemas.openxmlformats.org/officeDocument/2006/relationships/notesMaster" Target="/ppt/notesMasters/notesMaster1.xml" Id="R3015c98dbff04b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8dd71440504ccd" /><Relationship Type="http://schemas.openxmlformats.org/officeDocument/2006/relationships/notesMaster" Target="/ppt/notesMasters/notesMaster1.xml" Id="Rfd6422c596ac40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036858fd6243b6" /><Relationship Type="http://schemas.openxmlformats.org/officeDocument/2006/relationships/notesMaster" Target="/ppt/notesMasters/notesMaster1.xml" Id="R5203b9cf0de14e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dacdc8fc6f499e" /><Relationship Type="http://schemas.openxmlformats.org/officeDocument/2006/relationships/notesMaster" Target="/ppt/notesMasters/notesMaster1.xml" Id="Rdc4d13dd973f40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be677dccfc4104" /><Relationship Type="http://schemas.openxmlformats.org/officeDocument/2006/relationships/notesMaster" Target="/ppt/notesMasters/notesMaster1.xml" Id="R1540d467413c4c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0765b6c13147d4" /><Relationship Type="http://schemas.openxmlformats.org/officeDocument/2006/relationships/notesMaster" Target="/ppt/notesMasters/notesMaster1.xml" Id="Refd2e34c994949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49181ca39c4446" /><Relationship Type="http://schemas.openxmlformats.org/officeDocument/2006/relationships/notesMaster" Target="/ppt/notesMasters/notesMaster1.xml" Id="R13ab9c3d0d0b43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1552416d8e47bb" /><Relationship Type="http://schemas.openxmlformats.org/officeDocument/2006/relationships/notesMaster" Target="/ppt/notesMasters/notesMaster1.xml" Id="Rfd95e8191d034e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9ec10885754870" /><Relationship Type="http://schemas.openxmlformats.org/officeDocument/2006/relationships/notesMaster" Target="/ppt/notesMasters/notesMaster1.xml" Id="R4133102941e04c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539417b6d64fa0" /><Relationship Type="http://schemas.openxmlformats.org/officeDocument/2006/relationships/notesMaster" Target="/ppt/notesMasters/notesMaster1.xml" Id="Rd1b01d0a00ae40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발표의 목표: UVM이 왜 필요한지 이해하고, 작은 테스트벤치를 읽을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LRM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IEEE 1800.2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LRM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IEEE 1800.2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LRM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IEEE 1800.2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LRM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IEEE 1800.2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LRM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IEEE 1800.2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LRM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IEEE 1800.2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LRM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IEEE 1800.2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LRM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IEEE 1800.2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LRM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IEEE 1800.2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LRM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IEEE 1800.2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LRM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IEEE 1800.2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LRM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IEEE 1800.2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LRM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IEEE 1800.2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LRM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IEEE 1800.2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마무리: 모든 구성요소를 한 번에 구현하려 하지 말고, 작은 환경을 처음부터 끝까지 만들어 보는 것이 가장 빠른 학습 방법입니다.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LRM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IEEE 1800.2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1d021ee2ec4e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b898890adb4082" /><Relationship Type="http://schemas.openxmlformats.org/officeDocument/2006/relationships/slideLayout" Target="/ppt/slideLayouts/slideLayout1.xml" Id="Rd1c7753eb57441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c7753eb57441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524cd4c984204" /><Relationship Type="http://schemas.openxmlformats.org/officeDocument/2006/relationships/notesSlide" Target="/ppt/notesSlides/notesSlide1.xml" Id="R8de32aceca494f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0f2efb678479f" /><Relationship Type="http://schemas.openxmlformats.org/officeDocument/2006/relationships/notesSlide" Target="/ppt/notesSlides/notesSlide2.xml" Id="R3fe065b5abc847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372920cfb4374" /><Relationship Type="http://schemas.openxmlformats.org/officeDocument/2006/relationships/notesSlide" Target="/ppt/notesSlides/notesSlide3.xml" Id="Rd1e1d0a1c7ca43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d596442c147c0" /><Relationship Type="http://schemas.openxmlformats.org/officeDocument/2006/relationships/notesSlide" Target="/ppt/notesSlides/notesSlide4.xml" Id="R86661e05735d4e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0e1ae824c49bd" /><Relationship Type="http://schemas.openxmlformats.org/officeDocument/2006/relationships/notesSlide" Target="/ppt/notesSlides/notesSlide5.xml" Id="R498f40fa3c304e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f6639bd9e4de9" /><Relationship Type="http://schemas.openxmlformats.org/officeDocument/2006/relationships/notesSlide" Target="/ppt/notesSlides/notesSlide6.xml" Id="R142f6a184b6444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0cff176564c1e" /><Relationship Type="http://schemas.openxmlformats.org/officeDocument/2006/relationships/notesSlide" Target="/ppt/notesSlides/notesSlide7.xml" Id="R1f67460090ed41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bbb54f79240a9" /><Relationship Type="http://schemas.openxmlformats.org/officeDocument/2006/relationships/notesSlide" Target="/ppt/notesSlides/notesSlide8.xml" Id="R5b3fefa915ef40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b74cd5606466f" /><Relationship Type="http://schemas.openxmlformats.org/officeDocument/2006/relationships/notesSlide" Target="/ppt/notesSlides/notesSlide9.xml" Id="R229588119b2b40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3340b7d2e47d3" /><Relationship Type="http://schemas.openxmlformats.org/officeDocument/2006/relationships/notesSlide" Target="/ppt/notesSlides/notesSlide10.xml" Id="R57277e71b3924e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be04999fa4d72" /><Relationship Type="http://schemas.openxmlformats.org/officeDocument/2006/relationships/notesSlide" Target="/ppt/notesSlides/notesSlide11.xml" Id="R04873c3e1ce047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60a971d5a4f8e" /><Relationship Type="http://schemas.openxmlformats.org/officeDocument/2006/relationships/notesSlide" Target="/ppt/notesSlides/notesSlide12.xml" Id="R2c69e09bf2c74c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a3c3fa0ba47ff" /><Relationship Type="http://schemas.openxmlformats.org/officeDocument/2006/relationships/notesSlide" Target="/ppt/notesSlides/notesSlide13.xml" Id="R363779d3d2f74b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c413d86c34850" /><Relationship Type="http://schemas.openxmlformats.org/officeDocument/2006/relationships/notesSlide" Target="/ppt/notesSlides/notesSlide14.xml" Id="Rc5ca5ef4e69b4b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bf98b36eb40b4" /><Relationship Type="http://schemas.openxmlformats.org/officeDocument/2006/relationships/notesSlide" Target="/ppt/notesSlides/notesSlide15.xml" Id="Rae608261392a49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4B5D0-3479-4737-B50F-5C08140D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8953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검증을 ‘코드’가 아니라</a:t>
            </a:r>
          </a:p>
          <a:p xmlns:a="http://schemas.openxmlformats.org/drawingml/2006/main">
            <a:pPr algn="l">
              <a:defRPr sz="55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‘구조’로 설계하기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DE905-E23D-44A3-9231-EC850A98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SystemVerilog와 UVM으로 시작하는 하드웨어 검증 입문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EA76-0506-40BE-9FCE-873B5CF9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57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D5152-E122-4E31-B78C-86443D08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처음 보는 사람을 위한 개념 · 흐름 · 최소 예제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109C6-D843-4911-A5E4-2FC4FCBD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885825"/>
            <a:ext cx="287655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15BF4-8C2C-4E8B-95C0-C839EAF5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028BE-31AB-43CF-9B06-C6D854B3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9075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33EF3-8A8B-47DE-82AE-9F3A382C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2405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8C9BC-9C02-4359-B5AE-E997F86E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5735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57EFD-093E-4DCE-9EAA-633D49C2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9065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59F7B-7A85-48CD-B868-24C78050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19425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50381-E1B5-461C-AB58-DA2C6D6F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673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D6673"/>
                </a:solidFill>
                <a:latin typeface="Menlo"/>
                <a:ea typeface="Menlo"/>
                <a:cs typeface="Menlo"/>
              </a:rPr>
              <a:t>stimulate  →  observe  → 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B11A0-93AB-43B2-A468-B832E6B1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UVM / SystemVerilog</a:t>
            </a:r>
          </a:p>
        </p:txBody>
      </p:sp>
    </p:spTree>
    <p:extLst>
      <p:ext uri="{BB962C8B-B14F-4D97-AF65-F5344CB8AC3E}">
        <p14:creationId xmlns:p14="http://schemas.microsoft.com/office/powerpoint/2010/main" val="3796352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62BD0-86A3-4C95-9E46-EDE43B00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입문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C307B-09EF-4DA3-8F98-501CF1DD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검증은 ‘동작한다’보다 ‘틀리지 않는다’를 증명하는 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90388-BBF1-47EA-A1FB-273F9C33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0A5C1-4663-4D34-9A8C-6EB58A0C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2B265-4FFD-4BBC-83ED-C50F865E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설계(DUT)는 입력을 받아 결과를 냅니다. 검증 환경은 많은 상황을 만들어 결과가 기대와 같은지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B6C46-A926-43EA-AC13-75FD99A0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05125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47114-B75E-4E0A-BBC7-67429C7B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1DCD8-14F3-4AF3-8035-D383AD3E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자극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7FA2E-D66B-462F-A565-F063E83F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여러 입력·순서·타이밍을 만든다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34E99-99D2-415F-AFDF-C7E8D31B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05125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E5684-5B2E-4A63-BC7B-8C0FCE70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A95BE-7B5C-4F42-BAD7-088D2FFA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관측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32A11-2D9A-43A6-B195-28F4D29F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24325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인터페이스의 실제 신호를 읽는다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E15FD-84DD-4164-A941-1282CBA3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05125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CB93C-1C14-437B-A537-FEFCBC13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D1137-2EEA-42EE-B335-B46D9DF8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판정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E7D8A-A0B8-4C9B-89BF-05AF701A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기대값과 비교해 오류를 찾는다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51567-8A6E-4938-B254-410C5EFD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핵심 질문: 모든 중요한 경우를 충분히, 반복 가능하게 확인했는가?</a:t>
            </a:r>
          </a:p>
        </p:txBody>
      </p:sp>
    </p:spTree>
    <p:extLst>
      <p:ext uri="{BB962C8B-B14F-4D97-AF65-F5344CB8AC3E}">
        <p14:creationId xmlns:p14="http://schemas.microsoft.com/office/powerpoint/2010/main" val="1372108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A60AF-BE79-48A6-B380-0176AC57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입문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B84F5-7405-480C-AB4D-E225BD99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SystemVerilog는 언어, UVM은 검증 환경을 만드는 방법론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49F9C-0B5D-455B-96AF-055D132C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960E5-3D37-49A1-8044-E9D2BEC4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CD612-6C6F-40E1-A528-15DAA2AB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4857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6BAB3-35A7-4D55-AACA-EB5BEC38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SystemVerilog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FF119-338C-4B11-AB3B-C0CF7D41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3829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하드웨어 설계와 검증을 위한 언어</a:t>
            </a:r>
          </a:p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• class · random · assertion · coverage</a:t>
            </a:r>
          </a:p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• 병렬 동작과 시간 개념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95685-6DB5-40BE-8D86-AC1176A2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857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9FD2F-95AD-49A8-91FB-5C90752F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4280D-7101-469A-9E94-50A91FD0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SystemVerilog class로 만든 표준 검증 프레임워크</a:t>
            </a:r>
          </a:p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• 재사용 가능한 컴포넌트</a:t>
            </a:r>
          </a:p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• 자극·관측·비교·리포팅의 공통 구조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EE53D-E4B4-4241-8F9E-51A33EE7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비유하면: SystemVerilog는 벽돌과 공구, UVM은 건축의 공통 설계도입니다.</a:t>
            </a:r>
          </a:p>
        </p:txBody>
      </p:sp>
    </p:spTree>
    <p:extLst>
      <p:ext uri="{BB962C8B-B14F-4D97-AF65-F5344CB8AC3E}">
        <p14:creationId xmlns:p14="http://schemas.microsoft.com/office/powerpoint/2010/main" val="9248383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08D34B-E0B4-4E92-AFA4-E7150F60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입문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57F12-87E1-4D6C-AE34-F3AA0F4E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SystemVerilog의 네 가지 기능이 검증을 편하게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CFE61-5CD3-4883-9169-5E089FED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ADA1D-C493-4701-A969-4CAAA5B9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5380A-6AB6-402E-822D-5B738F9D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7C6F1-6F2B-4AEA-873A-62AF6B79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C875E-DA6B-4858-97D0-BF5FA4BD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3832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데이터와 동작을 묶어 ‘거래(transaction)’를 표현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0CC5F-ED8D-4327-A20F-89FFC5D6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6B5A8-6AE0-4BBA-ABF1-6CFC7D22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53139-65A6-47D3-BEFD-AABD1A9B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336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randomize()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ABA25-5E86-40BB-AF6B-E8B52678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1462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많은 입력 조합을 자동으로 탐색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B017D-96A3-401D-9675-C1B227FD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EC232-927A-4894-BC45-78EA3907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6235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31AC0-C10D-4096-80E8-170B7E80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99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interface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6F16F-8EE7-4716-A3B7-DB3EC5DE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9092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DUT 핀 묶음을 한 곳에서 다룸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A925E-BA8B-483D-831E-9B1DEA20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4815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CD68E-2E99-4DDF-B8A7-B08D732D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26C27-8DFF-4D1D-9911-B725222D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862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assertion /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BC42C-BD33-4515-9941-92955340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6722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규칙 위반과 검증 범위를 명시적으로 추적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87D83F-F84B-4191-8350-66CD33C9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7D29E6-7A24-481C-8BCB-D052503B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673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이 기능들을 조합하면 ‘신호를 직접 흔드는 테스트’에서 벗어날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6756745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203A6-E89F-4A62-BA32-324CDA08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입문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54D4C-47AD-41CB-ADE8-1B7D6C4E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핀의 변화 대신 ‘의미 있는 한 건의 요청’을 주고받습니다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232FD-82E2-4B73-8099-4C3C1432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22521-6359-4C24-A3B2-640D582B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ECC2E-0612-48B1-9578-EA55CDCE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42672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954B0-B4B5-4762-B03C-45124647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3848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class alu_txn;</a:t>
            </a:r>
          </a:p>
          <a:p xmlns:a="http://schemas.openxmlformats.org/drawingml/2006/main">
            <a:pPr algn="l">
              <a:defRPr sz="14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rand bit [7:0] a, b;</a:t>
            </a:r>
          </a:p>
          <a:p xmlns:a="http://schemas.openxmlformats.org/drawingml/2006/main">
            <a:pPr algn="l">
              <a:defRPr sz="14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rand bit [1:0] op;</a:t>
            </a:r>
          </a:p>
          <a:p xmlns:a="http://schemas.openxmlformats.org/drawingml/2006/main">
            <a:pPr algn="l">
              <a:defRPr sz="14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bit [7:0] result;</a:t>
            </a:r>
          </a:p>
          <a:p xmlns:a="http://schemas.openxmlformats.org/drawingml/2006/main">
            <a:pPr algn="l">
              <a:defRPr sz="14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endclass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47AFF-C13E-4F72-8F5A-960DBB64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57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transaction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5EDC1-9675-49B9-A11D-6A10B43A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예: a, b, op를 묶어</a:t>
            </a:r>
          </a:p>
          <a:p xmlns:a="http://schemas.openxmlformats.org/drawingml/2006/main">
            <a:pPr algn="l">
              <a:defRPr sz="18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‘ALU 연산 요청 1건’으로 표현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57554-9BC2-4593-9DAC-441AA8E6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81200"/>
            <a:ext cx="1676400" cy="200025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DE3AF-28E9-49F5-9BDA-63C08E49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914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  <a:p xmlns:a="http://schemas.openxmlformats.org/drawingml/2006/main">
            <a:pPr algn="ctr">
              <a:defRPr sz="21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  <a:p xmlns:a="http://schemas.openxmlformats.org/drawingml/2006/main">
            <a:pPr algn="ctr">
              <a:defRPr sz="21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36056-630B-43B6-A627-43262671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71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신호 레벨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EC07F-5E6D-4363-98DC-3F1A9DF3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959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장점: 자극, 관측값, 기대값이 같은 단위로 이동합니다.</a:t>
            </a:r>
          </a:p>
        </p:txBody>
      </p:sp>
    </p:spTree>
    <p:extLst>
      <p:ext uri="{BB962C8B-B14F-4D97-AF65-F5344CB8AC3E}">
        <p14:creationId xmlns:p14="http://schemas.microsoft.com/office/powerpoint/2010/main" val="392976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B4B99-629A-4768-A342-82D653FD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입문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4B391-F539-4B95-B67E-FD4B041A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무작위 생성은 ‘아무 값’이 아니라 ‘규칙 안의 다양한 값’입니다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F4751-BA76-49FF-8DA5-A10FE58B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2E1AD-71CF-4FE5-A909-69F94DDE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B308C-86FF-49DB-90D0-89502A97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538162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2066D-2F2C-4797-A2B1-98AC4A02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49625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constraint legal_op { op inside {0, 1, 2}; }</a:t>
            </a:r>
          </a:p>
          <a:p xmlns:a="http://schemas.openxmlformats.org/drawingml/2006/main">
            <a:pPr algn="l">
              <a:defRPr sz="14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constraint avoid_zero { b != 0;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assert(tx.randomize());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C0DF0-3B2C-4784-A876-D4D86524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제약(constraint)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95816-C366-4B6D-827B-3E8AF30D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0985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의미 없는 입력은 막고</a:t>
            </a:r>
          </a:p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원하는 구석 상황(corner case)을 유도합니다.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20B36-03BB-4925-B244-147E175E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ABA00-96FD-46CC-B1FF-C62C9115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91125"/>
            <a:ext cx="1024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E8A63"/>
                </a:solidFill>
                <a:latin typeface="Helvetica Neue"/>
                <a:ea typeface="Helvetica Neue"/>
                <a:cs typeface="Helvetica Neue"/>
              </a:rPr>
              <a:t>주의: 랜덤 테스트는 ‘정답 판정기’가 있어야만 가치가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989262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68C8A2-6544-4C83-8F74-BA483992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입문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D68DD-A7C6-403E-AA0C-6FD5C2DF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UVM은 역할을 나누어 검증 환경을 조립합니다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E9E59-89A7-43EE-AE6D-4E8EB7BF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6BC94-6899-414A-8BBF-1567CFF7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10CE4-60A8-43E1-86E2-332A3AD4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A9EAF-9646-49F0-89D4-7AA58537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2782F-7A69-4C3F-AB85-D7142057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F0943-C276-466E-8E94-26DAE8EC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E4D4B-513A-43FA-8937-8E43648E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7C00C-74B3-47B0-A1D8-E4A8382A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무엇을</a:t>
            </a:r>
          </a:p>
          <a:p xmlns:a="http://schemas.openxmlformats.org/drawingml/2006/main">
            <a:pPr algn="ctr">
              <a:def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할지 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5C460-A1CD-4232-A433-D282F3FD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81250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3D9ED-E4D4-4E51-890A-38274A87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28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driver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D86A2-3369-46A7-9FCB-E6756AA3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2420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핀으로</a:t>
            </a:r>
          </a:p>
          <a:p xmlns:a="http://schemas.openxmlformats.org/drawingml/2006/main">
            <a:pPr algn="ctr">
              <a:def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변환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EFCF4-659E-4F27-8323-C1950AE9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4C35E-ACCA-4BD8-AA40-AC56485D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monitor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E78B1-0EBE-4973-B9B4-A6406237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핀에서</a:t>
            </a:r>
          </a:p>
          <a:p xmlns:a="http://schemas.openxmlformats.org/drawingml/2006/main">
            <a:pPr algn="ctr">
              <a:def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읽기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C2E3A-ACAB-4C2B-AEDE-27BA6786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0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47175-94FF-49EB-A84A-F26156FC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28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scoreboard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953D9-09BA-4652-8072-BBAF2F29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2420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기대값과</a:t>
            </a:r>
          </a:p>
          <a:p xmlns:a="http://schemas.openxmlformats.org/drawingml/2006/main">
            <a:pPr algn="ctr">
              <a:def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736A1-E2EA-432A-9EB5-69A712DC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1024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D6673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5D6673"/>
                </a:solidFill>
                <a:latin typeface="Menlo"/>
                <a:ea typeface="Menlo"/>
                <a:cs typeface="Menlo"/>
              </a:rPr>
              <a:t>sequence → driver → DUT → monitor → scoreboard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D30F97-07A6-4BCC-9CE6-35C0B32B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483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각 역할이 분리되면 DUT가 바뀌어도 환경 일부를 재사용하기 쉬워집니다.</a:t>
            </a:r>
          </a:p>
        </p:txBody>
      </p:sp>
    </p:spTree>
    <p:extLst>
      <p:ext uri="{BB962C8B-B14F-4D97-AF65-F5344CB8AC3E}">
        <p14:creationId xmlns:p14="http://schemas.microsoft.com/office/powerpoint/2010/main" val="10500512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E5D0D-56D8-4690-97C4-0DE0CDF3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입문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F71D4-05F1-4382-BB6E-433486CA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DUT 바깥에 검증 환경을 두고, 인터페이스로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6BC5C-4E4E-4649-B7B9-2C01EDE2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DD86A-6E82-44D6-8B93-723709E6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0E1E9-DAF0-4C7A-A45D-ED98D228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05050"/>
            <a:ext cx="20764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E0DA4-F516-4BAF-9804-41120DB9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0510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DUT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B2378-D22D-46C8-B2A4-DED137F5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667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F033F-2481-4931-BD19-9AD227E2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UVM agent</a:t>
            </a:r>
          </a:p>
          <a:p xmlns:a="http://schemas.openxmlformats.org/drawingml/2006/main">
            <a:pPr algn="ctr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(driver + monitor)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3017F-6183-4F7C-9939-5060C499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3050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EA9CF-925C-45B9-9CFF-F4C7755D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scoreboard</a:t>
            </a:r>
          </a:p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+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9A5C6-F29F-41D0-8A04-FF3E7FA5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95625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FD74C-A168-448F-9D8D-A58FCFFE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95625"/>
            <a:ext cx="16859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3514A-BEE2-4138-B659-D64CEAF4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333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67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D6673"/>
                </a:solidFill>
                <a:latin typeface="Menlo"/>
                <a:ea typeface="Menlo"/>
                <a:cs typeface="Menlo"/>
              </a:rPr>
              <a:t>virtual interface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A6253-6F02-4979-8460-9663CB8F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interface는 물리 신호의 접점, transaction은 의미 있는 데이터의 단위입니다.</a:t>
            </a:r>
          </a:p>
        </p:txBody>
      </p:sp>
    </p:spTree>
    <p:extLst>
      <p:ext uri="{BB962C8B-B14F-4D97-AF65-F5344CB8AC3E}">
        <p14:creationId xmlns:p14="http://schemas.microsoft.com/office/powerpoint/2010/main" val="12340751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51F6BE-A02B-43AB-B0E0-33D7382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입문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2DB71-15CC-4A0C-BC4B-D70D1A71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UVM phase는 환경을 ‘만들고 → 연결하고 → 실행하는’ 순서로 정리합니다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8B62B-3DC8-4B8E-9EBB-768D57F3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86165-1C03-4DE5-A859-476051DA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8BB9B-B48C-4102-B550-F84C6E76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2133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5DC51-7920-4967-BB88-44DFF69F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ADB78-367A-4D2C-AC88-00A682C7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build_phase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A9F7C-07E6-41E1-ADA2-E1F5CB75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컴포넌트 생성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08CEB-429F-4C8A-B550-8103816D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9527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B4062-4333-4D62-A94C-FDD6BB55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95550"/>
            <a:ext cx="2133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A5292-CF2B-493B-ACF0-CBDC6C76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860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BACD6-9BC0-49E3-BBC5-3C80FE08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480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connect_phase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81E77-D5D6-4CDA-9D9F-AC4EF120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385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분석 포트·TLM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702D7-D9F1-4C6C-9C4B-363D46F8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9527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D8288-D49B-4245-A647-192B11EC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2133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360D5-0688-4D98-9F9F-BC2D2168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55B844-BA6E-415F-BCAF-846CCF23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run_phase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C47BC-C716-42CD-8C80-B4F2DD72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385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시간이 흐르는 테스트 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465DB-E5D2-4C9F-AE5A-1ABB747D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9527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88DDA-FD78-4885-9080-BCE288B5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2133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53E87-D1C2-4D6B-A102-99D017F4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6C421-60A5-445C-92E2-A6621D39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report_phase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BF2BB9-3CB5-44DB-8585-BFBD233A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385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결과 요약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824F98-0E81-4BBC-89A3-D61CA7E4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초보자 팁: build/connect는 ‘배선’, run은 ‘실행’이라고 먼저 기억하세요.</a:t>
            </a:r>
          </a:p>
        </p:txBody>
      </p:sp>
    </p:spTree>
    <p:extLst>
      <p:ext uri="{BB962C8B-B14F-4D97-AF65-F5344CB8AC3E}">
        <p14:creationId xmlns:p14="http://schemas.microsoft.com/office/powerpoint/2010/main" val="3287827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09DC4-1EE1-4099-8939-C9559CD8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입문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4EDF7-1CBC-422B-BABB-BF201F63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최소 UVM 테스트는 테스트를 만들고 sequence를 시작합니다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9EFC1-9FAF-4E4F-81E3-93B7C73B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F6C43-2284-4CF2-832B-F5EF6E89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79650-139C-4442-A8A6-EE4768D0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652462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88A26-520D-4D9C-896A-E6D179CA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610552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class alu_test extends uvm_test;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`uvm_component_utils(alu_test)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alu_env env;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function void build_phase(uvm_phase phase);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  env = alu_env::type_id::create("env", this);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endfunction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task run_phase(uvm_phase phase);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  alu_smoke_seq seq = alu_smoke_seq::type_id::create("seq");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  phase.raise_objection(this);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  seq.start(env.agent.sequencer);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  phase.drop_objection(this);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endtask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endclass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0B2D5-4C02-4DCF-8594-31CF41E8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43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읽는 순서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1B9FF-7B74-4B7D-8F05-3F4551DB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9555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1. env를 생성</a:t>
            </a:r>
          </a:p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2. run_phase에서 실행</a:t>
            </a:r>
          </a:p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3. sequence를 sequencer에 시작</a:t>
            </a:r>
          </a:p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4. objection으로 종료 시점 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7FAAD-59C7-4982-A1F0-B0B5ABDA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지금은 모든 줄을 외우지 않아도 됩니다. ‘어디서 무엇을 시작하는가’가 핵심입니다.</a:t>
            </a:r>
          </a:p>
        </p:txBody>
      </p:sp>
    </p:spTree>
    <p:extLst>
      <p:ext uri="{BB962C8B-B14F-4D97-AF65-F5344CB8AC3E}">
        <p14:creationId xmlns:p14="http://schemas.microsoft.com/office/powerpoint/2010/main" val="14577851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21A31-5AD9-44F1-A35F-819AFD45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입문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68A25-8EED-46F5-86FB-AEE54B11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sequence는 거래를 만들고, driver는 실제 핀에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2D5F9-4B2E-4EC3-BDCC-773C3A3B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27B49-EDA0-4735-B0F8-03983ABA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96A72-662B-4EA9-BCAE-004B337D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423862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ACF31-BBA2-433F-BE60-B05D8D48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8195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sequence</a:t>
            </a:r>
          </a:p>
          <a:p xmlns:a="http://schemas.openxmlformats.org/drawingml/2006/main">
            <a:pPr algn="l">
              <a:defRPr sz="135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start_item(req);</a:t>
            </a:r>
          </a:p>
          <a:p xmlns:a="http://schemas.openxmlformats.org/drawingml/2006/main">
            <a:pPr algn="l">
              <a:defRPr sz="135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assert(req.randomize());</a:t>
            </a:r>
          </a:p>
          <a:p xmlns:a="http://schemas.openxmlformats.org/drawingml/2006/main">
            <a:pPr algn="l">
              <a:defRPr sz="135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finish_item(req);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B5801-A85A-4D4E-AC5D-4142E7EB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561975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3CB27-EE80-48C8-8B47-F58E61DB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90750"/>
            <a:ext cx="5200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driver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seq_item_port.get_next_item(req);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vif.a  &lt;= req.a;  vif.b &lt;= req.b;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vif.op &lt;= req.op;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@(posedge vif.clk);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seq_item_port.item_done();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9265A-C4D9-474C-BC21-E3C6AD62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6720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의도 / 데이터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FD06C-F90B-4E9E-AAB5-71D6518D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672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핀 / 타이밍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4DD25-A7C2-4B29-821F-9391ACEA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이 분리는 테스트가 ‘신호를 어떻게 토글하는지’ 대신 ‘무엇을 시험하는지’에 집중하게 합니다.</a:t>
            </a:r>
          </a:p>
        </p:txBody>
      </p:sp>
    </p:spTree>
    <p:extLst>
      <p:ext uri="{BB962C8B-B14F-4D97-AF65-F5344CB8AC3E}">
        <p14:creationId xmlns:p14="http://schemas.microsoft.com/office/powerpoint/2010/main" val="992774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24FFF-1CD5-4921-A46B-0A06388C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입문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DA6A6-7188-450A-9A2B-45DA1B5A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monitor는 관찰하고, scoreboard는 독립적으로 정답을 계산합니다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BD992-EE7B-454E-867D-5F356902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6997B-1C60-474B-A67E-80B9847D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38484-782F-4087-BF19-D8EE2BD6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3333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B021E-DF37-4932-ABBA-C024A7CD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monitor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FF2A8-6D99-466B-B78A-027A2753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인터페이스를 샘플링해</a:t>
            </a:r>
          </a:p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transaction으로 복원</a:t>
            </a:r>
          </a:p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→ analysis port로 전송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FBA90-4E1B-48A1-9D44-68F4CD58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14550"/>
            <a:ext cx="3333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DE7A1-AD25-4462-A694-2AE692BE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scoreboard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929A9-4266-4078-9267-02FB1ACA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입력으로 기대값 계산</a:t>
            </a:r>
          </a:p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실제 결과와 비교</a:t>
            </a:r>
          </a:p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→ mismatch 보고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E594C-7DCB-4A20-84A2-3B36600D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14550"/>
            <a:ext cx="2190750" cy="22098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40400-D804-42A8-BBB8-33168DEB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7DC6C-99F6-415C-B02A-D50156F9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99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무엇을</a:t>
            </a:r>
          </a:p>
          <a:p xmlns:a="http://schemas.openxmlformats.org/drawingml/2006/main">
            <a:pPr algn="l">
              <a:def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실행했는지 측정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B0B45-41F5-4050-BAB5-EB8F1A96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E8A63"/>
                </a:solidFill>
                <a:latin typeface="Helvetica Neue"/>
                <a:ea typeface="Helvetica Neue"/>
                <a:cs typeface="Helvetica Neue"/>
              </a:rPr>
              <a:t>‘테스트가 끝났다’와 ‘충분히 검증했다’는 다른 말입니다.</a:t>
            </a:r>
          </a:p>
        </p:txBody>
      </p:sp>
    </p:spTree>
    <p:extLst>
      <p:ext uri="{BB962C8B-B14F-4D97-AF65-F5344CB8AC3E}">
        <p14:creationId xmlns:p14="http://schemas.microsoft.com/office/powerpoint/2010/main" val="7609011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6682C-7B03-419F-8D2A-E42CF9DB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입문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88F88-E42B-4A92-A922-85D533BB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assertion과 coverage는 각각 ‘규칙 위반’과 ‘실행 범위’를 말해줍니다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67F78-2C78-4F1D-990A-8D52630D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78B88-4C4E-42ED-943F-18052160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8E728-3748-4C68-8767-5F3B5D7D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9775"/>
            <a:ext cx="4838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945A7-7DCB-45C1-9273-B02A30E1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Assertion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E9E3D-73BC-4524-B0C2-DBA4CB18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36766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70407-03FB-41E0-B81C-5E70A490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71825"/>
            <a:ext cx="325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assert property (@(posedge clk)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valid |-&gt; ##1 ready);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9EAE3-3915-4C53-A929-D9B225A1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규칙이 깨진 순간을 즉시 잡습니다.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01984-45E9-443F-9998-31CA4BAD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9775"/>
            <a:ext cx="4838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E75EA-B81D-49DF-88B3-98E449ED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336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Functional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D6A25-A3F1-4F53-9BB3-1E9A74E6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81325"/>
            <a:ext cx="3695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00B1D-86D2-41D8-A248-EFC04C37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71825"/>
            <a:ext cx="327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covergroup cg;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coverpoint op;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cross op, carry;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endgroup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53FC0-ACE0-485F-9CFF-2BAA27F1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719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어떤 조합까지 실행했는지 보입니다.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55EA4-E4DA-44AA-A4B6-B81594CC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둘을 함께 보면: ‘규칙을 지켰나?’와 ‘충분히 시도했나?’를 분리해 답할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0109624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488BD-BCDC-465C-A005-48D0892F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입문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AE17A-898D-46C9-8671-D1D6D987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처음에는 작은 DUT로 이 반복 루프를 완주해 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7EF90-D8A9-4908-8A6A-EAC3A4B1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43C74-92DB-4169-9286-F2B94A1F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BB386-F67A-4A30-A0AF-BFA03663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12844-687D-4C21-A595-58AA1335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66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interface + transaction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D9A20-78FA-4C09-ACEA-EB4567FB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859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핀과 데이터 단위 정의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34B19-2582-4775-A521-FA9090B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D6C39-B732-4FB0-9B26-A8593A74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CBD09-327F-47AF-8D0C-4DF084F2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sequence + driver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5E228-B862-4ADF-A713-0A8F565F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432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자극을 만든 뒤 핀으로 전달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9524F-AE80-49EF-9D6D-7B24B73C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6707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FCE47-6726-4116-801F-3854070C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814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0B8AB-5CFE-4A19-A401-6DDAD6EF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monitor + scoreboard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711AB-B05A-4138-A5A5-CA9A51DE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004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관측값을 판정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341F5-AB10-4653-9138-450AEA69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2432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52635-9C8B-4CFB-AF26-175EF42A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4931F-4B98-489B-8906-0C4F539F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assertion +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8A6C62-DF9D-49FF-AACE-5F71E1E1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577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규칙과 빈 구석을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867415-6DD3-42E3-8787-85BFA684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8157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173C8-6CD8-4F06-98A3-1F6EE5DF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721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추천 실습: 8-bit ALU 또는 FIFO 한 개를 선택해 smoke test부터 만드세요.</a:t>
            </a:r>
          </a:p>
        </p:txBody>
      </p:sp>
    </p:spTree>
    <p:extLst>
      <p:ext uri="{BB962C8B-B14F-4D97-AF65-F5344CB8AC3E}">
        <p14:creationId xmlns:p14="http://schemas.microsoft.com/office/powerpoint/2010/main" val="1170243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438B2-0D07-4E25-8A3D-184FE728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핵심만 기억하면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EDBBC-B6FC-4DDC-BC64-BDB5D1F3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SystemVerilog로 검증의 재료를 만들고,</a:t>
            </a:r>
          </a:p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UVM으로 재사용 가능한 검증 환경을 조립합니다.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A30AA-AB8A-4A16-84A5-5F3D83F7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24200"/>
            <a:ext cx="590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A2198-18B1-4F77-8A19-3B3A7948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다음 한 걸음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87EDE-BE5A-4EEF-9BA7-E0971622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67200"/>
            <a:ext cx="552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1. transaction 하나 만들기</a:t>
            </a:r>
          </a:p>
          <a:p xmlns:a="http://schemas.openxmlformats.org/drawingml/2006/main">
            <a:pPr algn="l">
              <a:defRPr sz="18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2. sequence → driver 흐름 읽기</a:t>
            </a:r>
          </a:p>
          <a:p xmlns:a="http://schemas.openxmlformats.org/drawingml/2006/main">
            <a:pPr algn="l">
              <a:defRPr sz="18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3. scoreboard로 첫 비교 추가하기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611AD-8065-41D5-9417-964C1912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90950"/>
            <a:ext cx="27336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22FEA-CC27-4D40-8AC8-C4130078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1529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작게 만들고</a:t>
            </a:r>
          </a:p>
          <a:p xmlns:a="http://schemas.openxmlformats.org/drawingml/2006/main">
            <a:pPr algn="ctr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끝까지 검증하기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62176-14D8-4ABF-B3D4-6C17F0F0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198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60877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2026-07-29T23:46:05.4960000Z</dcterms:created>
  <dcterms:modified xsi:type="dcterms:W3CDTF">2026-07-29T23:46:05.4960000Z</dcterms:modified>
</coreProperties>
</file>